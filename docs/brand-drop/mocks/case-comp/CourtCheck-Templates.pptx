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40"/>
    <p:restoredTop sz="94638"/>
  </p:normalViewPr>
  <p:slideViewPr>
    <p:cSldViewPr snapToGrid="0" snapToObjects="1">
      <p:cViewPr varScale="1">
        <p:scale>
          <a:sx n="90" d="100"/>
          <a:sy n="90" d="100"/>
        </p:scale>
        <p:origin x="296" y="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COVER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635000"/>
            <a:ext cx="113792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i="1">
                <a:solidFill>
                  <a:srgbClr val="43403A"/>
                </a:solidFill>
                <a:latin typeface="Newsreader ExtraBold"/>
              </a:rPr>
              <a:t>“[Hero pull quote that frames the work in one sentence. Attributed below.]”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6400" y="1651000"/>
            <a:ext cx="11379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spc="200">
                <a:solidFill>
                  <a:srgbClr val="837F77"/>
                </a:solidFill>
                <a:latin typeface="JetBrains Mono Medium"/>
              </a:rPr>
              <a:t>[NAME · ROLE · ORG]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6400" y="2032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6400" y="2286000"/>
            <a:ext cx="11379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40">
                <a:solidFill>
                  <a:srgbClr val="2E5341"/>
                </a:solidFill>
                <a:latin typeface="JetBrains Mono ExtraBold"/>
              </a:rPr>
              <a:t>2026 [EVENT NAME] · [TRACK OR CATEGORY]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400" y="2603500"/>
            <a:ext cx="11379200" cy="1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0" b="1" i="0">
                <a:solidFill>
                  <a:srgbClr val="1A1815"/>
                </a:solidFill>
                <a:latin typeface="Newsreader ExtraBold"/>
              </a:rPr>
              <a:t>[Project </a:t>
            </a:r>
            <a:r>
              <a:rPr sz="8800" b="0" i="1">
                <a:solidFill>
                  <a:srgbClr val="B05B36"/>
                </a:solidFill>
                <a:latin typeface="Newsreader ExtraBold"/>
              </a:rPr>
              <a:t>name</a:t>
            </a:r>
            <a:r>
              <a:rPr sz="8800" b="1" i="0">
                <a:solidFill>
                  <a:srgbClr val="1A1815"/>
                </a:solidFill>
                <a:latin typeface="Newsreader ExtraBold"/>
              </a:rPr>
              <a:t>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6400" y="3937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43403A"/>
                </a:solidFill>
                <a:latin typeface="Inter Tight"/>
              </a:rPr>
              <a:t>[One-sentence tagline that says what the product is and who it’s for. Concrete, not slogan-y.]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400" y="4953000"/>
            <a:ext cx="27305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PRESENTED BY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6400" y="5130800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[Presenter name]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6400" y="5397500"/>
            <a:ext cx="2730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[Role · Affiliation]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89300" y="4953000"/>
            <a:ext cx="27305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TEAM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89300" y="5130800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[Co-presenters]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89300" y="5397500"/>
            <a:ext cx="2730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[Roles, comma separated]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953000"/>
            <a:ext cx="27305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ADVISED BY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2200" y="5130800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[Advisor name]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2200" y="5397500"/>
            <a:ext cx="2730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[Role · Affiliation]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5100" y="4953000"/>
            <a:ext cx="27305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DATE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5100" y="5130800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[Month DD, YYYY]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5100" y="5397500"/>
            <a:ext cx="2730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[Venue · City]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EXECUTIVE SUMMARY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400" b="1" i="0" u="sng" dirty="0">
                <a:solidFill>
                  <a:srgbClr val="1A1815"/>
                </a:solidFill>
                <a:uFill>
                  <a:solidFill>
                    <a:srgbClr val="2E5341"/>
                  </a:solidFill>
                </a:uFill>
                <a:latin typeface="Inter Tight"/>
              </a:rPr>
              <a:t>[Leading phrase]</a:t>
            </a:r>
            <a:r>
              <a:rPr lang="en-US" sz="2400" b="1" i="0" dirty="0">
                <a:solidFill>
                  <a:srgbClr val="1A1815"/>
                </a:solidFill>
                <a:latin typeface="Inter Tight"/>
              </a:rPr>
              <a:t>. [Body framing the </a:t>
            </a:r>
            <a:r>
              <a:rPr lang="en-US" sz="2600" b="0" i="1" dirty="0">
                <a:solidFill>
                  <a:srgbClr val="B05B36"/>
                </a:solidFill>
                <a:latin typeface="Newsreader ExtraBold"/>
              </a:rPr>
              <a:t>opportunity</a:t>
            </a:r>
            <a:r>
              <a:rPr lang="en-US" sz="2400" b="1" i="0" dirty="0">
                <a:solidFill>
                  <a:srgbClr val="1A1815"/>
                </a:solidFill>
                <a:latin typeface="Inter Tight"/>
              </a:rPr>
              <a:t> and the </a:t>
            </a:r>
            <a:r>
              <a:rPr lang="en-US" sz="2400" b="1" i="0" u="sng" dirty="0">
                <a:solidFill>
                  <a:srgbClr val="1A1815"/>
                </a:solidFill>
                <a:uFill>
                  <a:solidFill>
                    <a:srgbClr val="2E5341"/>
                  </a:solidFill>
                </a:uFill>
                <a:latin typeface="Inter Tight"/>
              </a:rPr>
              <a:t>[kicker phrase]</a:t>
            </a:r>
            <a:r>
              <a:rPr lang="en-US" sz="2400" b="1" i="0" dirty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06400" y="1397000"/>
            <a:ext cx="3691466" cy="4064000"/>
          </a:xfrm>
          <a:prstGeom prst="roundRect">
            <a:avLst>
              <a:gd name="adj" fmla="val 2408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58800" y="1549400"/>
            <a:ext cx="203200" cy="2032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8800" y="15494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900" y="1549400"/>
            <a:ext cx="3056466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20">
                <a:solidFill>
                  <a:srgbClr val="2E5341"/>
                </a:solidFill>
                <a:latin typeface="JetBrains Mono ExtraBold"/>
              </a:rPr>
              <a:t>CHALLENGE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8800" y="1879599"/>
            <a:ext cx="3386666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[One-sentence framing of the problem the buyer faces today.]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8800" y="2590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0400" y="2540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[Symptom or stat 1]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0400" y="2794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8800" y="3098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0400" y="3048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[Symptom or stat 2]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0400" y="3302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8800" y="3606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60400" y="3556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[Symptom or stat 3]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0400" y="3810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8800" y="4114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60400" y="4064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[Symptom or stat 4]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400" y="4318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8800" y="4927600"/>
            <a:ext cx="3386666" cy="7112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5000" y="5029200"/>
            <a:ext cx="1270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PAIN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000" y="5257800"/>
            <a:ext cx="3246966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Newsreader ExtraBold"/>
              </a:rPr>
              <a:t>[$ at stake]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50266" y="1397000"/>
            <a:ext cx="3691466" cy="4064000"/>
          </a:xfrm>
          <a:prstGeom prst="roundRect">
            <a:avLst>
              <a:gd name="adj" fmla="val 2408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402666" y="1549400"/>
            <a:ext cx="203200" cy="2032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402666" y="15494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94766" y="1549400"/>
            <a:ext cx="3056466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20">
                <a:solidFill>
                  <a:srgbClr val="7B4E6E"/>
                </a:solidFill>
                <a:latin typeface="JetBrains Mono ExtraBold"/>
              </a:rPr>
              <a:t>SOLUTION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2666" y="1879599"/>
            <a:ext cx="3386666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[One-sentence framing of what you built and how it lands.]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02666" y="2590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504266" y="2540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[Capability 1]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04266" y="2794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02666" y="3098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504266" y="3048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[Capability 2]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04266" y="3302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402666" y="3606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504266" y="3556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[Capability 3]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04266" y="3810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402666" y="4114800"/>
            <a:ext cx="254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04266" y="4064000"/>
            <a:ext cx="32469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[Capability 4]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04266" y="4318000"/>
            <a:ext cx="3246966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402666" y="4927600"/>
            <a:ext cx="3386666" cy="7112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478866" y="5029200"/>
            <a:ext cx="127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TIME TO VALUE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78866" y="5257800"/>
            <a:ext cx="3246966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Newsreader ExtraBold"/>
              </a:rPr>
              <a:t>[N days]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094133" y="1397000"/>
            <a:ext cx="3691466" cy="4064000"/>
          </a:xfrm>
          <a:prstGeom prst="roundRect">
            <a:avLst>
              <a:gd name="adj" fmla="val 2408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246533" y="1549400"/>
            <a:ext cx="203200" cy="2032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46533" y="15494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1A1815"/>
                </a:solidFill>
                <a:latin typeface="JetBrains Mono ExtraBold"/>
              </a:rPr>
              <a:t>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38633" y="1549400"/>
            <a:ext cx="3056466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20">
                <a:solidFill>
                  <a:srgbClr val="BFC846"/>
                </a:solidFill>
                <a:latin typeface="JetBrains Mono ExtraBold"/>
              </a:rPr>
              <a:t>IMPACT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46533" y="1879599"/>
            <a:ext cx="3386666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4F0E6"/>
                </a:solidFill>
                <a:latin typeface="Inter Tight"/>
              </a:rPr>
              <a:t>[One-sentence framing of the outcome the buyer takes to leadership.]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46533" y="2590800"/>
            <a:ext cx="25400" cy="2540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133" y="2540000"/>
            <a:ext cx="324696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0" i="0" dirty="0">
                <a:solidFill>
                  <a:srgbClr val="F4F0E6"/>
                </a:solidFill>
                <a:latin typeface="Inter Tight"/>
              </a:rPr>
              <a:t>[Result 1]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48133" y="2794000"/>
            <a:ext cx="324696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0" i="1" dirty="0">
                <a:solidFill>
                  <a:srgbClr val="D4CCB3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46533" y="3098800"/>
            <a:ext cx="25400" cy="2540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348133" y="3048000"/>
            <a:ext cx="324696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0" i="0" dirty="0">
                <a:solidFill>
                  <a:srgbClr val="F4F0E6"/>
                </a:solidFill>
                <a:latin typeface="Inter Tight"/>
              </a:rPr>
              <a:t>[Result 2]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48133" y="3302000"/>
            <a:ext cx="324696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0" i="1" dirty="0">
                <a:solidFill>
                  <a:srgbClr val="D4CCB3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246533" y="3606800"/>
            <a:ext cx="25400" cy="2540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348133" y="3556000"/>
            <a:ext cx="324696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0" i="0" dirty="0">
                <a:solidFill>
                  <a:srgbClr val="F4F0E6"/>
                </a:solidFill>
                <a:latin typeface="Inter Tight"/>
              </a:rPr>
              <a:t>[Result 3]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48133" y="3810000"/>
            <a:ext cx="324696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0" i="1" dirty="0">
                <a:solidFill>
                  <a:srgbClr val="D4CCB3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46533" y="4114800"/>
            <a:ext cx="25400" cy="2540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348133" y="4064000"/>
            <a:ext cx="324696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0" i="0" dirty="0">
                <a:solidFill>
                  <a:srgbClr val="F4F0E6"/>
                </a:solidFill>
                <a:latin typeface="Inter Tight"/>
              </a:rPr>
              <a:t>[Result 4]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48133" y="4318000"/>
            <a:ext cx="324696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0" i="1" dirty="0">
                <a:solidFill>
                  <a:srgbClr val="D4CCB3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246533" y="4927600"/>
            <a:ext cx="3386666" cy="711200"/>
          </a:xfrm>
          <a:prstGeom prst="roundRect">
            <a:avLst>
              <a:gd name="adj" fmla="val 10714"/>
            </a:avLst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322733" y="5029200"/>
            <a:ext cx="127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i="0" spc="180" dirty="0">
                <a:solidFill>
                  <a:srgbClr val="D4CCB3"/>
                </a:solidFill>
                <a:latin typeface="JetBrains Mono Medium"/>
              </a:rPr>
              <a:t>TARGET ACV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22733" y="5257800"/>
            <a:ext cx="3246966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BFC846"/>
                </a:solidFill>
                <a:latin typeface="Newsreader ExtraBold"/>
              </a:rPr>
              <a:t>[$N]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06400" y="5651500"/>
            <a:ext cx="31750" cy="4445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438150" y="5651500"/>
            <a:ext cx="11347450" cy="444500"/>
          </a:xfrm>
          <a:prstGeom prst="roundRect">
            <a:avLst>
              <a:gd name="adj" fmla="val 857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84200" y="5651500"/>
            <a:ext cx="110617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[Bottom-line synthesis sentence with one </a:t>
            </a:r>
            <a:r>
              <a:rPr sz="1900" b="0" i="1">
                <a:solidFill>
                  <a:srgbClr val="B05B36"/>
                </a:solidFill>
                <a:latin typeface="Newsreader ExtraBold"/>
              </a:rPr>
              <a:t>italic-clay</a:t>
            </a:r>
            <a:r>
              <a:rPr sz="17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</p:spTree>
    <p:extLst>
      <p:ext uri="{BB962C8B-B14F-4D97-AF65-F5344CB8AC3E}">
        <p14:creationId xmlns:p14="http://schemas.microsoft.com/office/powerpoint/2010/main" val="326340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4-STAT CARDS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[Action title with one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italic-clay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 word and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06400" y="1397000"/>
            <a:ext cx="2730500" cy="3429000"/>
          </a:xfrm>
          <a:prstGeom prst="roundRect">
            <a:avLst>
              <a:gd name="adj" fmla="val 3255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06400" y="1397000"/>
            <a:ext cx="27305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58800" y="15494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8800" y="15494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8800" y="2032000"/>
            <a:ext cx="24257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0" b="1" i="0">
                <a:solidFill>
                  <a:srgbClr val="1A1815"/>
                </a:solidFill>
                <a:latin typeface="Newsreader ExtraBold"/>
              </a:rPr>
              <a:t>[N]</a:t>
            </a:r>
            <a:r>
              <a:rPr sz="3200" b="0" i="0">
                <a:solidFill>
                  <a:srgbClr val="837F77"/>
                </a:solidFill>
                <a:latin typeface="Newsreader Medium"/>
              </a:rPr>
              <a:t>unit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8800" y="3238500"/>
            <a:ext cx="24257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160">
                <a:solidFill>
                  <a:srgbClr val="43403A"/>
                </a:solidFill>
                <a:latin typeface="JetBrains Mono ExtraBold"/>
              </a:rPr>
              <a:t>[STAT DESCRIPTOR — WHAT THE NUMBER MEASURES]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8800" y="4254500"/>
            <a:ext cx="24257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8800" y="4343400"/>
            <a:ext cx="24257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PRIOR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8800" y="4495800"/>
            <a:ext cx="24257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[Comparison value]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89300" y="1397000"/>
            <a:ext cx="2730500" cy="3429000"/>
          </a:xfrm>
          <a:prstGeom prst="roundRect">
            <a:avLst>
              <a:gd name="adj" fmla="val 3255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289300" y="1397000"/>
            <a:ext cx="2730500" cy="254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441700" y="1549400"/>
            <a:ext cx="241300" cy="2413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441700" y="15494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41700" y="2032000"/>
            <a:ext cx="24257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0" b="1" i="0">
                <a:solidFill>
                  <a:srgbClr val="1A1815"/>
                </a:solidFill>
                <a:latin typeface="Newsreader ExtraBold"/>
              </a:rPr>
              <a:t>[N]</a:t>
            </a:r>
            <a:r>
              <a:rPr sz="3200" b="0" i="0">
                <a:solidFill>
                  <a:srgbClr val="837F77"/>
                </a:solidFill>
                <a:latin typeface="Newsreader Medium"/>
              </a:rPr>
              <a:t>unit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41700" y="3238500"/>
            <a:ext cx="24257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160">
                <a:solidFill>
                  <a:srgbClr val="43403A"/>
                </a:solidFill>
                <a:latin typeface="JetBrains Mono ExtraBold"/>
              </a:rPr>
              <a:t>[STAT DESCRIPTOR — WHAT THE NUMBER MEASURES]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41700" y="4254500"/>
            <a:ext cx="24257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441700" y="4343400"/>
            <a:ext cx="24257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SOURCE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41700" y="4495800"/>
            <a:ext cx="24257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[Where measured]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72200" y="1397000"/>
            <a:ext cx="2730500" cy="3429000"/>
          </a:xfrm>
          <a:prstGeom prst="roundRect">
            <a:avLst>
              <a:gd name="adj" fmla="val 3255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72200" y="1397000"/>
            <a:ext cx="2730500" cy="254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6324600" y="1549400"/>
            <a:ext cx="241300" cy="2413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24600" y="15494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1A1815"/>
                </a:solidFill>
                <a:latin typeface="JetBrains Mono ExtraBold"/>
              </a:rPr>
              <a:t>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24600" y="2032000"/>
            <a:ext cx="24257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0" b="1" i="0">
                <a:solidFill>
                  <a:srgbClr val="1A1815"/>
                </a:solidFill>
                <a:latin typeface="Newsreader ExtraBold"/>
              </a:rPr>
              <a:t>[N]</a:t>
            </a:r>
            <a:r>
              <a:rPr sz="3200" b="0" i="0">
                <a:solidFill>
                  <a:srgbClr val="837F77"/>
                </a:solidFill>
                <a:latin typeface="Newsreader Medium"/>
              </a:rPr>
              <a:t>unit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24600" y="3238500"/>
            <a:ext cx="24257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160">
                <a:solidFill>
                  <a:srgbClr val="43403A"/>
                </a:solidFill>
                <a:latin typeface="JetBrains Mono ExtraBold"/>
              </a:rPr>
              <a:t>[STAT DESCRIPTOR — WHAT THE NUMBER MEASURES]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24600" y="4254500"/>
            <a:ext cx="24257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4600" y="4343400"/>
            <a:ext cx="24257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TREND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24600" y="4495800"/>
            <a:ext cx="24257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[Direction · pace]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055100" y="1397000"/>
            <a:ext cx="2730500" cy="3429000"/>
          </a:xfrm>
          <a:prstGeom prst="roundRect">
            <a:avLst>
              <a:gd name="adj" fmla="val 3255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055100" y="1397000"/>
            <a:ext cx="2730500" cy="254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9207500" y="1549400"/>
            <a:ext cx="241300" cy="241300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207500" y="15494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07500" y="2032000"/>
            <a:ext cx="24257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0" b="1" i="0">
                <a:solidFill>
                  <a:srgbClr val="1A1815"/>
                </a:solidFill>
                <a:latin typeface="Newsreader ExtraBold"/>
              </a:rPr>
              <a:t>[N]</a:t>
            </a:r>
            <a:r>
              <a:rPr sz="3200" b="0" i="0">
                <a:solidFill>
                  <a:srgbClr val="837F77"/>
                </a:solidFill>
                <a:latin typeface="Newsreader Medium"/>
              </a:rPr>
              <a:t>unit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7500" y="3238500"/>
            <a:ext cx="24257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160">
                <a:solidFill>
                  <a:srgbClr val="43403A"/>
                </a:solidFill>
                <a:latin typeface="JetBrains Mono ExtraBold"/>
              </a:rPr>
              <a:t>[STAT DESCRIPTOR — WHAT THE NUMBER MEASURES]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07500" y="4254500"/>
            <a:ext cx="24257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207500" y="4343400"/>
            <a:ext cx="24257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TARGET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07500" y="4495800"/>
            <a:ext cx="24257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[Goal value]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6400" y="5080000"/>
            <a:ext cx="31750" cy="4445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438150" y="5080000"/>
            <a:ext cx="11347450" cy="444500"/>
          </a:xfrm>
          <a:prstGeom prst="roundRect">
            <a:avLst>
              <a:gd name="adj" fmla="val 857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84200" y="5080000"/>
            <a:ext cx="110617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[Contained thesis statement with one </a:t>
            </a:r>
            <a:r>
              <a:rPr sz="1900" b="0" i="1">
                <a:solidFill>
                  <a:srgbClr val="B05B36"/>
                </a:solidFill>
                <a:latin typeface="Newsreader ExtraBold"/>
              </a:rPr>
              <a:t>italic-clay</a:t>
            </a:r>
            <a:r>
              <a:rPr sz="17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6400" y="5651500"/>
            <a:ext cx="11379200" cy="355600"/>
          </a:xfrm>
          <a:prstGeom prst="rect">
            <a:avLst/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508000" y="5740400"/>
            <a:ext cx="635000" cy="1778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08000" y="57404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INSIGHT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70000" y="5651500"/>
            <a:ext cx="10414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[One-line synthesis the presenter can land in 5 seconds.]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FAILURE CARDS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[Categorical action title with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italic accent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 and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06400" y="1397000"/>
            <a:ext cx="11379200" cy="876300"/>
          </a:xfrm>
          <a:prstGeom prst="roundRect">
            <a:avLst>
              <a:gd name="adj" fmla="val 1014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06400" y="1397000"/>
            <a:ext cx="31750" cy="8763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09600" y="1714500"/>
            <a:ext cx="254000" cy="2540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9600" y="17145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0">
                <a:solidFill>
                  <a:srgbClr val="FFFFFF"/>
                </a:solidFill>
                <a:latin typeface="JetBrains Mono ExtraBold"/>
              </a:rPr>
              <a:t>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6800" y="15494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[Option 1]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6800" y="1841500"/>
            <a:ext cx="1905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BUILT FOR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6800" y="1981199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5000" y="1549400"/>
            <a:ext cx="5588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WHY IT FAILS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75000" y="1714500"/>
            <a:ext cx="55880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17000" y="1549400"/>
            <a:ext cx="2159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SIGNAL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17000" y="17145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Newsreader ExtraBold"/>
              </a:rPr>
              <a:t>[Value]</a:t>
            </a:r>
            <a:r>
              <a:rPr sz="14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6400" y="2374900"/>
            <a:ext cx="11379200" cy="876300"/>
          </a:xfrm>
          <a:prstGeom prst="roundRect">
            <a:avLst>
              <a:gd name="adj" fmla="val 1014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06400" y="2374900"/>
            <a:ext cx="31750" cy="8763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09600" y="2692400"/>
            <a:ext cx="254000" cy="2540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09600" y="26924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0">
                <a:solidFill>
                  <a:srgbClr val="FFFFFF"/>
                </a:solidFill>
                <a:latin typeface="JetBrains Mono ExtraBold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6800" y="25273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[Option 2]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6800" y="2819400"/>
            <a:ext cx="1905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BUILT FOR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6800" y="295910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75000" y="2527300"/>
            <a:ext cx="5588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WHY IT FAILS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75000" y="2692400"/>
            <a:ext cx="55880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17000" y="2527300"/>
            <a:ext cx="2159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SIGNAL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17000" y="26924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Newsreader ExtraBold"/>
              </a:rPr>
              <a:t>[Value]</a:t>
            </a:r>
            <a:r>
              <a:rPr sz="14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06400" y="3352800"/>
            <a:ext cx="11379200" cy="876300"/>
          </a:xfrm>
          <a:prstGeom prst="roundRect">
            <a:avLst>
              <a:gd name="adj" fmla="val 1014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06400" y="3352800"/>
            <a:ext cx="31750" cy="8763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609600" y="3670300"/>
            <a:ext cx="254000" cy="2540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09600" y="36703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0">
                <a:solidFill>
                  <a:srgbClr val="1A1815"/>
                </a:solidFill>
                <a:latin typeface="JetBrains Mono ExtraBold"/>
              </a:rPr>
              <a:t>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6800" y="35052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[Option 3]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6800" y="3797300"/>
            <a:ext cx="1905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BUILT FOR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6800" y="393700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75000" y="3505200"/>
            <a:ext cx="5588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WHY IT FAILS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75000" y="3670300"/>
            <a:ext cx="55880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17000" y="3505200"/>
            <a:ext cx="2159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SIGNAL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17000" y="36703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Newsreader ExtraBold"/>
              </a:rPr>
              <a:t>[Value]</a:t>
            </a:r>
            <a:r>
              <a:rPr sz="14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6400" y="4330700"/>
            <a:ext cx="11379200" cy="876300"/>
          </a:xfrm>
          <a:prstGeom prst="roundRect">
            <a:avLst>
              <a:gd name="adj" fmla="val 1014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06400" y="4330700"/>
            <a:ext cx="31750" cy="8763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09600" y="4648200"/>
            <a:ext cx="254000" cy="254000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09600" y="46482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0">
                <a:solidFill>
                  <a:srgbClr val="FFFFFF"/>
                </a:solidFill>
                <a:latin typeface="JetBrains Mono ExtraBold"/>
              </a:rPr>
              <a:t>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66800" y="44831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[Option 4]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6800" y="4775200"/>
            <a:ext cx="1905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BUILT FOR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66800" y="491490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75000" y="4483100"/>
            <a:ext cx="5588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WHY IT FAILS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75000" y="4648200"/>
            <a:ext cx="55880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17000" y="4483100"/>
            <a:ext cx="2159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SIGNAL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17000" y="46482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Newsreader ExtraBold"/>
              </a:rPr>
              <a:t>[Value]</a:t>
            </a:r>
            <a:r>
              <a:rPr sz="14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6400" y="5524500"/>
            <a:ext cx="11379200" cy="355600"/>
          </a:xfrm>
          <a:prstGeom prst="rect">
            <a:avLst/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508000" y="5613400"/>
            <a:ext cx="635000" cy="1778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08000" y="56134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INSIGHT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70000" y="5524500"/>
            <a:ext cx="10414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[One-line synthesis of why every option misses and what the gap looks like.]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SIDEBAR + CHART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[Sidebar-and-chart action title with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italic accent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 and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06400" y="1397000"/>
            <a:ext cx="3302000" cy="4127500"/>
          </a:xfrm>
          <a:prstGeom prst="roundRect">
            <a:avLst>
              <a:gd name="adj" fmla="val 2692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58800" y="15494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8800" y="15494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1574800"/>
            <a:ext cx="2603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[Key point I.]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1778000"/>
            <a:ext cx="260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74" name="Oval 73"/>
          <p:cNvSpPr/>
          <p:nvPr/>
        </p:nvSpPr>
        <p:spPr>
          <a:xfrm>
            <a:off x="558800" y="23749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8800" y="23749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II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2400300"/>
            <a:ext cx="2603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[Key point II.]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603500"/>
            <a:ext cx="260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78" name="Oval 77"/>
          <p:cNvSpPr/>
          <p:nvPr/>
        </p:nvSpPr>
        <p:spPr>
          <a:xfrm>
            <a:off x="558800" y="32004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58800" y="32004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III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3225800"/>
            <a:ext cx="2603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[Key point III.]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3429000"/>
            <a:ext cx="260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82" name="Oval 81"/>
          <p:cNvSpPr/>
          <p:nvPr/>
        </p:nvSpPr>
        <p:spPr>
          <a:xfrm>
            <a:off x="558800" y="40259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58800" y="4025900"/>
            <a:ext cx="2413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IV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4051300"/>
            <a:ext cx="2603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[Key point IV.]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4254500"/>
            <a:ext cx="260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8800" y="5016500"/>
            <a:ext cx="2997200" cy="3556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5000" y="5041900"/>
            <a:ext cx="1270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80">
                <a:solidFill>
                  <a:srgbClr val="837F77"/>
                </a:solidFill>
                <a:latin typeface="JetBrains Mono Medium"/>
              </a:rPr>
              <a:t>HEADLINE METRIC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000" y="51689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Newsreader ExtraBold"/>
              </a:rPr>
              <a:t>[$N or N%]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60800" y="1397000"/>
            <a:ext cx="7924799" cy="4127500"/>
          </a:xfrm>
          <a:prstGeom prst="roundRect">
            <a:avLst>
              <a:gd name="adj" fmla="val 2153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013200" y="1549400"/>
            <a:ext cx="7620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20">
                <a:solidFill>
                  <a:srgbClr val="2E5341"/>
                </a:solidFill>
                <a:latin typeface="JetBrains Mono ExtraBold"/>
              </a:rPr>
              <a:t>[CHART CAPTION · WHAT IS BEING SHOWN]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13200" y="1905000"/>
            <a:ext cx="508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SERIES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13200" y="220980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[Series A]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22800" y="2159000"/>
            <a:ext cx="5588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22800" y="2159000"/>
            <a:ext cx="4917440" cy="228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12400" y="21844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 ExtraBold"/>
              </a:rPr>
              <a:t>[N]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3200" y="261620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[Series B]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22800" y="2565400"/>
            <a:ext cx="5588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622800" y="2565400"/>
            <a:ext cx="3576320" cy="2286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12400" y="25908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 ExtraBold"/>
              </a:rPr>
              <a:t>[N]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13200" y="302260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[Series C]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622800" y="2971800"/>
            <a:ext cx="5588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622800" y="2971800"/>
            <a:ext cx="2682240" cy="2286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312400" y="2997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 ExtraBold"/>
              </a:rPr>
              <a:t>[N]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13200" y="342900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[Series D]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22800" y="3378200"/>
            <a:ext cx="5588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4622800" y="3378200"/>
            <a:ext cx="1788160" cy="2286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312400" y="34036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 ExtraBold"/>
              </a:rPr>
              <a:t>[N]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22800" y="36703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559300" y="3733799"/>
            <a:ext cx="190500" cy="12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37F77"/>
                </a:solidFill>
                <a:latin typeface="JetBrains Mono Medium"/>
              </a:rPr>
              <a:t>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19800" y="36703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956300" y="3733799"/>
            <a:ext cx="190500" cy="12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37F77"/>
                </a:solidFill>
                <a:latin typeface="JetBrains Mono Medium"/>
              </a:rPr>
              <a:t>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16800" y="36703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353299" y="3733799"/>
            <a:ext cx="190500" cy="12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37F77"/>
                </a:solidFill>
                <a:latin typeface="JetBrains Mono Medium"/>
              </a:rPr>
              <a:t>50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13800" y="36703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50300" y="3733799"/>
            <a:ext cx="190500" cy="12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37F77"/>
                </a:solidFill>
                <a:latin typeface="JetBrains Mono Medium"/>
              </a:rPr>
              <a:t>75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10800" y="36703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147300" y="3733799"/>
            <a:ext cx="190500" cy="12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37F77"/>
                </a:solidFill>
                <a:latin typeface="JetBrains Mono Medium"/>
              </a:rPr>
              <a:t>100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013200" y="4038600"/>
            <a:ext cx="88900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152900" y="40132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[Series A]</a:t>
            </a:r>
            <a:r>
              <a:rPr sz="1000" b="0" i="0" spc="80">
                <a:solidFill>
                  <a:srgbClr val="837F77"/>
                </a:solidFill>
                <a:latin typeface="JetBrains Mono Medium"/>
              </a:rPr>
              <a:t> · n=[N]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791200" y="4038600"/>
            <a:ext cx="88900" cy="889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930900" y="40132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[Series B]</a:t>
            </a:r>
            <a:r>
              <a:rPr sz="1000" b="0" i="0" spc="80">
                <a:solidFill>
                  <a:srgbClr val="837F77"/>
                </a:solidFill>
                <a:latin typeface="JetBrains Mono Medium"/>
              </a:rPr>
              <a:t> · n=[N]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69200" y="4038600"/>
            <a:ext cx="88900" cy="889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708900" y="40132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[Series C]</a:t>
            </a:r>
            <a:r>
              <a:rPr sz="1000" b="0" i="0" spc="80">
                <a:solidFill>
                  <a:srgbClr val="837F77"/>
                </a:solidFill>
                <a:latin typeface="JetBrains Mono Medium"/>
              </a:rPr>
              <a:t> · n=[N]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347200" y="4038600"/>
            <a:ext cx="88900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486900" y="40132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[Series D]</a:t>
            </a:r>
            <a:r>
              <a:rPr sz="1000" b="0" i="0" spc="80">
                <a:solidFill>
                  <a:srgbClr val="837F77"/>
                </a:solidFill>
                <a:latin typeface="JetBrains Mono Medium"/>
              </a:rPr>
              <a:t> · n=[N]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13200" y="5334000"/>
            <a:ext cx="76200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SOURCE · [DATASET · YEAR · N=N]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06400" y="5651500"/>
            <a:ext cx="11379200" cy="355600"/>
          </a:xfrm>
          <a:prstGeom prst="rect">
            <a:avLst/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508000" y="5740400"/>
            <a:ext cx="635000" cy="1778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08000" y="57404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INSIGHT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70000" y="5651500"/>
            <a:ext cx="10414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[One-line synthesis of what the chart proves and what action it implies.]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T6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STEP PROGRESSION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[Methodology or framework title in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four steps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 to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06400" y="1397000"/>
            <a:ext cx="19050" cy="39370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58800" y="1498600"/>
            <a:ext cx="279400" cy="279400"/>
          </a:xfrm>
          <a:prstGeom prst="ellipse">
            <a:avLst/>
          </a:prstGeom>
          <a:solidFill>
            <a:srgbClr val="F4F0E6"/>
          </a:solidFill>
          <a:ln w="19050">
            <a:solidFill>
              <a:srgbClr val="2E5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8800" y="14986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0">
                <a:solidFill>
                  <a:srgbClr val="2E5341"/>
                </a:solidFill>
                <a:latin typeface="JetBrains Mono ExtraBold"/>
              </a:rPr>
              <a:t>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8800" y="1955800"/>
            <a:ext cx="245745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[Step 1]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8800" y="2286000"/>
            <a:ext cx="245745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8800" y="40640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TOOL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8800" y="42037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[Specific tool or method]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8800" y="45085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OUTPUT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8800" y="46482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[Concrete artifact produced]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43250" y="1625600"/>
            <a:ext cx="889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168650" y="1549400"/>
            <a:ext cx="127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837F77"/>
                </a:solidFill>
                <a:latin typeface="Newsreader Medium"/>
              </a:rPr>
              <a:t>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5650" y="1397000"/>
            <a:ext cx="19050" cy="39370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448050" y="1498600"/>
            <a:ext cx="279400" cy="279400"/>
          </a:xfrm>
          <a:prstGeom prst="ellipse">
            <a:avLst/>
          </a:prstGeom>
          <a:solidFill>
            <a:srgbClr val="F4F0E6"/>
          </a:solidFill>
          <a:ln w="19050">
            <a:solidFill>
              <a:srgbClr val="7B4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448050" y="14986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0">
                <a:solidFill>
                  <a:srgbClr val="7B4E6E"/>
                </a:solidFill>
                <a:latin typeface="JetBrains Mono ExtraBold"/>
              </a:rPr>
              <a:t>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48050" y="1955800"/>
            <a:ext cx="245745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[Step 2]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48050" y="2286000"/>
            <a:ext cx="245745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48050" y="40640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TOOL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48050" y="42037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[Specific tool or method]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48050" y="45085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OUTPUT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48050" y="46482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[Concrete artifact produced]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32500" y="1625600"/>
            <a:ext cx="889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057900" y="1549400"/>
            <a:ext cx="127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837F77"/>
                </a:solidFill>
                <a:latin typeface="Newsreader Medium"/>
              </a:rPr>
              <a:t>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84900" y="1397000"/>
            <a:ext cx="19050" cy="39370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6337300" y="1498600"/>
            <a:ext cx="279400" cy="279400"/>
          </a:xfrm>
          <a:prstGeom prst="ellipse">
            <a:avLst/>
          </a:prstGeom>
          <a:solidFill>
            <a:srgbClr val="F4F0E6"/>
          </a:solidFill>
          <a:ln w="19050">
            <a:solidFill>
              <a:srgbClr val="C89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37300" y="14986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0">
                <a:solidFill>
                  <a:srgbClr val="C8923A"/>
                </a:solidFill>
                <a:latin typeface="JetBrains Mono ExtraBold"/>
              </a:rPr>
              <a:t>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37300" y="1955800"/>
            <a:ext cx="245745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[Step 3]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37300" y="2286000"/>
            <a:ext cx="245745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37300" y="40640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TOOL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37300" y="42037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[Specific tool or method]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37300" y="45085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OUTPUT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37300" y="46482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[Concrete artifact produced]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1750" y="1625600"/>
            <a:ext cx="889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947150" y="1549400"/>
            <a:ext cx="127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837F77"/>
                </a:solidFill>
                <a:latin typeface="Newsreader Medium"/>
              </a:rPr>
              <a:t>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74150" y="1397000"/>
            <a:ext cx="19050" cy="39370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9226550" y="1498600"/>
            <a:ext cx="279400" cy="279400"/>
          </a:xfrm>
          <a:prstGeom prst="ellipse">
            <a:avLst/>
          </a:prstGeom>
          <a:solidFill>
            <a:srgbClr val="F4F0E6"/>
          </a:solidFill>
          <a:ln w="19050">
            <a:solidFill>
              <a:srgbClr val="B05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226550" y="14986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0">
                <a:solidFill>
                  <a:srgbClr val="B05B36"/>
                </a:solidFill>
                <a:latin typeface="JetBrains Mono ExtraBold"/>
              </a:rPr>
              <a:t>04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26550" y="1955800"/>
            <a:ext cx="245745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815"/>
                </a:solidFill>
                <a:latin typeface="Inter Tight"/>
              </a:rPr>
              <a:t>[Step 4]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26550" y="2286000"/>
            <a:ext cx="245745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226550" y="40640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TOOL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26550" y="42037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[Specific tool or method]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26550" y="4508500"/>
            <a:ext cx="245745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OUTPUT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26550" y="4648200"/>
            <a:ext cx="245745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[Concrete artifact produced]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06400" y="5588000"/>
            <a:ext cx="31750" cy="5080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438150" y="5588000"/>
            <a:ext cx="11347450" cy="50800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84200" y="5588000"/>
            <a:ext cx="110617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[Synthesis: what the four steps together produce, with one </a:t>
            </a:r>
            <a:r>
              <a:rPr sz="1900" b="0" i="1">
                <a:solidFill>
                  <a:srgbClr val="B05B36"/>
                </a:solidFill>
                <a:latin typeface="Newsreader ExtraBold"/>
              </a:rPr>
              <a:t>italic-clay</a:t>
            </a:r>
            <a:r>
              <a:rPr sz="17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CLUSTER ACTION TABLE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[Decision-framework title pairing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cluster × state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 to drive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8800" y="1397000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837F77"/>
                </a:solidFill>
                <a:latin typeface="JetBrains Mono ExtraBold"/>
              </a:rPr>
              <a:t>CLUSTER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44800" y="139700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837F77"/>
                </a:solidFill>
                <a:latin typeface="JetBrains Mono ExtraBold"/>
              </a:rPr>
              <a:t>STATE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68800" y="1397000"/>
            <a:ext cx="4826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837F77"/>
                </a:solidFill>
                <a:latin typeface="JetBrains Mono ExtraBold"/>
              </a:rPr>
              <a:t>SUGGESTED ACTION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4800" y="1397000"/>
            <a:ext cx="2743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837F77"/>
                </a:solidFill>
                <a:latin typeface="JetBrains Mono ExtraBold"/>
              </a:rPr>
              <a:t>EXAMPLES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8800" y="1676400"/>
            <a:ext cx="110744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558800" y="1905000"/>
            <a:ext cx="203200" cy="2032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8800" y="19050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0900" y="1917700"/>
            <a:ext cx="1397000" cy="1778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0900" y="19177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CLUSTER 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44800" y="191770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↑ Over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68800" y="1879599"/>
            <a:ext cx="4635500" cy="3556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368800" y="1879599"/>
            <a:ext cx="25400" cy="355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95800" y="1879599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[Action for over-state of cluster A. One direct sentence.]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94800" y="1917700"/>
            <a:ext cx="2616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[Entity 1, Entity 2]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94800" y="2095499"/>
            <a:ext cx="26162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8800" y="2374900"/>
            <a:ext cx="110744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58800" y="2540000"/>
            <a:ext cx="203200" cy="2032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8800" y="25400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0900" y="2552700"/>
            <a:ext cx="1397000" cy="1778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50900" y="25527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CLUSTER 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44800" y="255270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↓ Under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68800" y="2514600"/>
            <a:ext cx="4635500" cy="3556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368800" y="2514600"/>
            <a:ext cx="25400" cy="355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495800" y="2514600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[Action for under-state of cluster A. One direct sentence.]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94800" y="2552700"/>
            <a:ext cx="2616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[Entity 3, Entity 4]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94800" y="2730500"/>
            <a:ext cx="26162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8800" y="3009900"/>
            <a:ext cx="110744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58800" y="3175000"/>
            <a:ext cx="203200" cy="2032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58800" y="31750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50900" y="3187700"/>
            <a:ext cx="1397000" cy="177800"/>
          </a:xfrm>
          <a:prstGeom prst="roundRect">
            <a:avLst>
              <a:gd name="adj" fmla="val 50000"/>
            </a:avLst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50900" y="31877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CLUSTER 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44800" y="318770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↑ Over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368800" y="3149600"/>
            <a:ext cx="4635500" cy="3556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368800" y="3149600"/>
            <a:ext cx="25400" cy="355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95800" y="3149600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[Action for over-state of cluster B. One direct sentence.]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94800" y="3187700"/>
            <a:ext cx="2616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[Entity 5, Entity 6]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94800" y="3365500"/>
            <a:ext cx="26162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8800" y="3644900"/>
            <a:ext cx="110744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558800" y="3810000"/>
            <a:ext cx="203200" cy="2032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8800" y="38100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1A1815"/>
                </a:solidFill>
                <a:latin typeface="JetBrains Mono ExtraBold"/>
              </a:rPr>
              <a:t>04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0900" y="3822700"/>
            <a:ext cx="1397000" cy="17780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50900" y="38227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CLUSTER C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44800" y="382270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↓ Under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68800" y="3784600"/>
            <a:ext cx="4635500" cy="3556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4368800" y="3784600"/>
            <a:ext cx="25400" cy="355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495800" y="3784600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[Action for under-state of cluster C. One direct sentence.]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94800" y="3822700"/>
            <a:ext cx="2616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[Entity 7, Entity 8]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94800" y="4000500"/>
            <a:ext cx="26162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58800" y="4279900"/>
            <a:ext cx="110744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58800" y="4445000"/>
            <a:ext cx="203200" cy="203200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58800" y="4445000"/>
            <a:ext cx="2032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05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50900" y="4457700"/>
            <a:ext cx="1397000" cy="177800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50900" y="44577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CLUSTER 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44800" y="4457700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815"/>
                </a:solidFill>
                <a:latin typeface="Inter Tight"/>
              </a:rPr>
              <a:t>↑ Over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368800" y="4419600"/>
            <a:ext cx="4635500" cy="355600"/>
          </a:xfrm>
          <a:prstGeom prst="roundRect">
            <a:avLst>
              <a:gd name="adj" fmla="val 10714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4368800" y="4419600"/>
            <a:ext cx="25400" cy="355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495800" y="4419600"/>
            <a:ext cx="4445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[Action for over-state of cluster D. One direct sentence.]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94800" y="4457700"/>
            <a:ext cx="2616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[Entity 9, Entity 10]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94800" y="4635500"/>
            <a:ext cx="26162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06400" y="5715000"/>
            <a:ext cx="31750" cy="4445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438150" y="5715000"/>
            <a:ext cx="11347450" cy="444500"/>
          </a:xfrm>
          <a:prstGeom prst="roundRect">
            <a:avLst>
              <a:gd name="adj" fmla="val 857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84200" y="5715000"/>
            <a:ext cx="110617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[Prioritize action across clusters by </a:t>
            </a:r>
            <a:r>
              <a:rPr sz="1900" b="0" i="1">
                <a:solidFill>
                  <a:srgbClr val="B05B36"/>
                </a:solidFill>
                <a:latin typeface="Newsreader ExtraBold"/>
              </a:rPr>
              <a:t>[lever]</a:t>
            </a:r>
            <a:r>
              <a:rPr sz="1700" b="1" i="0">
                <a:solidFill>
                  <a:srgbClr val="1A1815"/>
                </a:solidFill>
                <a:latin typeface="Inter Tight"/>
              </a:rPr>
              <a:t>. One-line decision rule.]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T8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BIG-NUMBER CONTRAST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The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contrast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, in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6400" y="1524000"/>
            <a:ext cx="4826000" cy="139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600" b="1" i="0">
                <a:solidFill>
                  <a:srgbClr val="1A1815"/>
                </a:solidFill>
                <a:latin typeface="Newsreader ExtraBold"/>
              </a:rPr>
              <a:t>[A]</a:t>
            </a:r>
            <a:r>
              <a:rPr sz="4800" b="0" i="0">
                <a:solidFill>
                  <a:srgbClr val="837F77"/>
                </a:solidFill>
                <a:latin typeface="Newsreader Medium"/>
              </a:rPr>
              <a:t>unit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400" y="2984500"/>
            <a:ext cx="4826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43403A"/>
                </a:solidFill>
                <a:latin typeface="JetBrains Mono ExtraBold"/>
              </a:rPr>
              <a:t>[BEFORE · CONTEXT]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7500" y="1841500"/>
            <a:ext cx="5080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0" i="0">
                <a:solidFill>
                  <a:srgbClr val="837F77"/>
                </a:solidFill>
                <a:latin typeface="Newsreader Medium"/>
              </a:rPr>
              <a:t>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23000" y="1524000"/>
            <a:ext cx="4826000" cy="139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600" b="1" i="0">
                <a:solidFill>
                  <a:srgbClr val="6E7522"/>
                </a:solidFill>
                <a:latin typeface="Newsreader ExtraBold"/>
              </a:rPr>
              <a:t>[B]</a:t>
            </a:r>
            <a:r>
              <a:rPr sz="4800" b="0" i="0">
                <a:solidFill>
                  <a:srgbClr val="837F77"/>
                </a:solidFill>
                <a:latin typeface="Newsreader Medium"/>
              </a:rPr>
              <a:t>unit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23000" y="2984500"/>
            <a:ext cx="4826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43403A"/>
                </a:solidFill>
                <a:latin typeface="JetBrains Mono ExtraBold"/>
              </a:rPr>
              <a:t>[AFTER · CONTEXT]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06400" y="3429000"/>
            <a:ext cx="11379200" cy="317500"/>
          </a:xfrm>
          <a:prstGeom prst="roundRect">
            <a:avLst>
              <a:gd name="adj" fmla="val 12000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8800" y="3429000"/>
            <a:ext cx="1106170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837F77"/>
                </a:solidFill>
                <a:latin typeface="JetBrains Mono ExtraBold"/>
              </a:rPr>
              <a:t>DELTA  </a:t>
            </a:r>
            <a:r>
              <a:rPr sz="1800" b="1" i="0">
                <a:solidFill>
                  <a:srgbClr val="1A1815"/>
                </a:solidFill>
                <a:latin typeface="Newsreader ExtraBold"/>
              </a:rPr>
              <a:t>[-N%]</a:t>
            </a:r>
            <a:r>
              <a:rPr sz="1100" b="0" i="0">
                <a:solidFill>
                  <a:srgbClr val="837F77"/>
                </a:solidFill>
                <a:latin typeface="JetBrains Mono Medium"/>
              </a:rPr>
              <a:t>    ·    </a:t>
            </a:r>
            <a:r>
              <a:rPr sz="1100" b="1" i="0" spc="200">
                <a:solidFill>
                  <a:srgbClr val="837F77"/>
                </a:solidFill>
                <a:latin typeface="JetBrains Mono ExtraBold"/>
              </a:rPr>
              <a:t>SOURCE  </a:t>
            </a:r>
            <a:r>
              <a:rPr sz="1400" b="0" i="0">
                <a:solidFill>
                  <a:srgbClr val="43403A"/>
                </a:solidFill>
                <a:latin typeface="Inter Tight"/>
              </a:rPr>
              <a:t>[Method · sample size]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06400" y="3937000"/>
            <a:ext cx="3725333" cy="1143000"/>
          </a:xfrm>
          <a:prstGeom prst="roundRect">
            <a:avLst>
              <a:gd name="adj" fmla="val 7777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508000" y="4038600"/>
            <a:ext cx="190500" cy="1905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8000" y="40386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8000" y="4292600"/>
            <a:ext cx="3522133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1A1815"/>
                </a:solidFill>
                <a:latin typeface="Newsreader ExtraBold"/>
              </a:rPr>
              <a:t>[N]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8000" y="4635500"/>
            <a:ext cx="3522133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[Secondary stat one]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8000" y="4857750"/>
            <a:ext cx="3522133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8000" y="4902200"/>
            <a:ext cx="3522133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SOURCE</a:t>
            </a:r>
            <a:r>
              <a:rPr sz="1200" b="0" i="0">
                <a:solidFill>
                  <a:srgbClr val="43403A"/>
                </a:solidFill>
                <a:latin typeface="Inter Tight"/>
              </a:rPr>
              <a:t>  [Where measured]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33333" y="3937000"/>
            <a:ext cx="3725333" cy="1143000"/>
          </a:xfrm>
          <a:prstGeom prst="roundRect">
            <a:avLst>
              <a:gd name="adj" fmla="val 7777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4334933" y="4038600"/>
            <a:ext cx="190500" cy="1905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34933" y="40386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FFFFFF"/>
                </a:solidFill>
                <a:latin typeface="JetBrains Mono ExtraBold"/>
              </a:rPr>
              <a:t>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34933" y="4292600"/>
            <a:ext cx="3522133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1A1815"/>
                </a:solidFill>
                <a:latin typeface="Newsreader ExtraBold"/>
              </a:rPr>
              <a:t>[N%]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933" y="4635500"/>
            <a:ext cx="3522133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[Secondary stat two]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34933" y="4857750"/>
            <a:ext cx="3522133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334933" y="4902200"/>
            <a:ext cx="3522133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PRIOR</a:t>
            </a:r>
            <a:r>
              <a:rPr sz="1200" b="0" i="0">
                <a:solidFill>
                  <a:srgbClr val="43403A"/>
                </a:solidFill>
                <a:latin typeface="Inter Tight"/>
              </a:rPr>
              <a:t>  [Comparison]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060266" y="3937000"/>
            <a:ext cx="3725333" cy="1143000"/>
          </a:xfrm>
          <a:prstGeom prst="roundRect">
            <a:avLst>
              <a:gd name="adj" fmla="val 7777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161866" y="4038600"/>
            <a:ext cx="190500" cy="1905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161866" y="40386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0">
                <a:solidFill>
                  <a:srgbClr val="1A1815"/>
                </a:solidFill>
                <a:latin typeface="JetBrains Mono ExtraBold"/>
              </a:rPr>
              <a:t>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61866" y="4292600"/>
            <a:ext cx="3522133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1A1815"/>
                </a:solidFill>
                <a:latin typeface="Newsreader ExtraBold"/>
              </a:rPr>
              <a:t>[N]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1866" y="4635500"/>
            <a:ext cx="3522133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[Secondary stat three]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61866" y="4857750"/>
            <a:ext cx="3522133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161866" y="4902200"/>
            <a:ext cx="3522133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TREND</a:t>
            </a:r>
            <a:r>
              <a:rPr sz="1200" b="0" i="0">
                <a:solidFill>
                  <a:srgbClr val="43403A"/>
                </a:solidFill>
                <a:latin typeface="Inter Tight"/>
              </a:rPr>
              <a:t>  [Direction]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6400" y="5270500"/>
            <a:ext cx="11379200" cy="355600"/>
          </a:xfrm>
          <a:prstGeom prst="rect">
            <a:avLst/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508000" y="5359400"/>
            <a:ext cx="635000" cy="1778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08000" y="53594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 ExtraBold"/>
              </a:rPr>
              <a:t>INSIGHT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70000" y="5270500"/>
            <a:ext cx="104140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3403A"/>
                </a:solidFill>
                <a:latin typeface="Inter Tight"/>
              </a:rPr>
              <a:t>[One-line synthesis of why this contrast matters and what action it implies.]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6375" cy="508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508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508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508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508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508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508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508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508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508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508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508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508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508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508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508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508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508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508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508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508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508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508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508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508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508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508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508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508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508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508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508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508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508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508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508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508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508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508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508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508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508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508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508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508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508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508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508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508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508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508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508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508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508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508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508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508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508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508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508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413500"/>
            <a:ext cx="476153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049000" y="6464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spc="200">
                <a:solidFill>
                  <a:srgbClr val="837F77"/>
                </a:solidFill>
                <a:latin typeface="JetBrains Mono Medium"/>
              </a:rPr>
              <a:t>T9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400" y="1778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6400" y="1778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4F0E6"/>
                </a:solidFill>
                <a:latin typeface="JetBrains Mono ExtraBold"/>
              </a:rPr>
              <a:t>T9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500" y="177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 Medium"/>
              </a:rPr>
              <a:t>3-TIER PROGRESSION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400" y="508000"/>
            <a:ext cx="11379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[Before, now, </a:t>
            </a:r>
            <a:r>
              <a:rPr sz="3600" b="0" i="1">
                <a:solidFill>
                  <a:srgbClr val="B05B36"/>
                </a:solidFill>
                <a:latin typeface="Newsreader ExtraBold"/>
              </a:rPr>
              <a:t>future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 Or i / ii / iii arc, building toward </a:t>
            </a:r>
            <a:r>
              <a:rPr sz="32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32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400" y="1143000"/>
            <a:ext cx="113792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06400" y="1397000"/>
            <a:ext cx="355600" cy="3556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6400" y="1397000"/>
            <a:ext cx="3556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0">
                <a:solidFill>
                  <a:srgbClr val="FFFFFF"/>
                </a:solidFill>
                <a:latin typeface="JetBrains Mono ExtraBold"/>
              </a:rPr>
              <a:t>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400" y="1905000"/>
            <a:ext cx="36914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20">
                <a:solidFill>
                  <a:srgbClr val="2E5341"/>
                </a:solidFill>
                <a:latin typeface="JetBrains Mono ExtraBold"/>
              </a:rPr>
              <a:t>[WHEN ONE]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6400" y="2159000"/>
            <a:ext cx="3691466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Inter Tight"/>
              </a:rPr>
              <a:t>[Tier 1 headline.]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400" y="2857500"/>
            <a:ext cx="3691466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43403A"/>
                </a:solidFill>
                <a:latin typeface="Inter Tight"/>
              </a:rPr>
              <a:t>[Two-line description of this tier. Keep it short and concrete.]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6400" y="4000500"/>
            <a:ext cx="3691466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PROOF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6400" y="4140200"/>
            <a:ext cx="3691466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[Evidence or KPI]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6400" y="4445000"/>
            <a:ext cx="3691466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OWNER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400" y="4584700"/>
            <a:ext cx="3691466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[Team or role]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23266" y="1574800"/>
            <a:ext cx="889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148666" y="1498600"/>
            <a:ext cx="127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837F77"/>
                </a:solidFill>
                <a:latin typeface="Newsreader Medium"/>
              </a:rPr>
              <a:t>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74066" y="1778000"/>
            <a:ext cx="6350" cy="3175000"/>
          </a:xfrm>
          <a:prstGeom prst="rect">
            <a:avLst/>
          </a:prstGeom>
          <a:solidFill>
            <a:srgbClr val="DD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250266" y="1397000"/>
            <a:ext cx="355600" cy="3556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50266" y="1397000"/>
            <a:ext cx="3556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0">
                <a:solidFill>
                  <a:srgbClr val="FFFFFF"/>
                </a:solidFill>
                <a:latin typeface="JetBrains Mono ExtraBold"/>
              </a:rPr>
              <a:t>II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0266" y="1905000"/>
            <a:ext cx="36914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20">
                <a:solidFill>
                  <a:srgbClr val="2E5341"/>
                </a:solidFill>
                <a:latin typeface="JetBrains Mono ExtraBold"/>
              </a:rPr>
              <a:t>[WHEN TWO]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50266" y="2159000"/>
            <a:ext cx="3691466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Inter Tight"/>
              </a:rPr>
              <a:t>[Tier 2 headline.]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0266" y="2857500"/>
            <a:ext cx="3691466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43403A"/>
                </a:solidFill>
                <a:latin typeface="Inter Tight"/>
              </a:rPr>
              <a:t>[Two-line description of this tier. Keep it short and concrete.]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50266" y="4000500"/>
            <a:ext cx="3691466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PROOF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50266" y="4140200"/>
            <a:ext cx="3691466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[Evidence or KPI]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50266" y="4445000"/>
            <a:ext cx="3691466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OWNER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0266" y="4584700"/>
            <a:ext cx="3691466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[Team or role]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67133" y="1574800"/>
            <a:ext cx="889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992533" y="1498600"/>
            <a:ext cx="127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837F77"/>
                </a:solidFill>
                <a:latin typeface="Newsreader Medium"/>
              </a:rPr>
              <a:t>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17933" y="1778000"/>
            <a:ext cx="6350" cy="3175000"/>
          </a:xfrm>
          <a:prstGeom prst="rect">
            <a:avLst/>
          </a:prstGeom>
          <a:solidFill>
            <a:srgbClr val="DD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094133" y="1397000"/>
            <a:ext cx="355600" cy="3556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094133" y="1397000"/>
            <a:ext cx="3556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0">
                <a:solidFill>
                  <a:srgbClr val="FFFFFF"/>
                </a:solidFill>
                <a:latin typeface="JetBrains Mono ExtraBold"/>
              </a:rPr>
              <a:t>III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94133" y="1905000"/>
            <a:ext cx="3691466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20">
                <a:solidFill>
                  <a:srgbClr val="2E5341"/>
                </a:solidFill>
                <a:latin typeface="JetBrains Mono ExtraBold"/>
              </a:rPr>
              <a:t>[WHEN THREE]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4133" y="2159000"/>
            <a:ext cx="3691466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815"/>
                </a:solidFill>
                <a:latin typeface="Inter Tight"/>
              </a:rPr>
              <a:t>[Tier 3 headline.]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94133" y="2857500"/>
            <a:ext cx="3691466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43403A"/>
                </a:solidFill>
                <a:latin typeface="Inter Tight"/>
              </a:rPr>
              <a:t>[Two-line description of this tier. Keep it short and concrete.]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94133" y="4000500"/>
            <a:ext cx="3691466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PROOF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94133" y="4140200"/>
            <a:ext cx="3691466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[Evidence or KPI]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4133" y="4445000"/>
            <a:ext cx="3691466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80">
                <a:solidFill>
                  <a:srgbClr val="837F77"/>
                </a:solidFill>
                <a:latin typeface="JetBrains Mono Medium"/>
              </a:rPr>
              <a:t>OWNER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94133" y="4584700"/>
            <a:ext cx="3691466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[Team or role]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06400" y="5588000"/>
            <a:ext cx="31750" cy="5080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438150" y="5588000"/>
            <a:ext cx="11347450" cy="50800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84200" y="5588000"/>
            <a:ext cx="110617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A1815"/>
                </a:solidFill>
                <a:latin typeface="Inter Tight"/>
              </a:rPr>
              <a:t>[Synthesis: the arc the three tiers make, with one </a:t>
            </a:r>
            <a:r>
              <a:rPr sz="1900" b="0" i="1">
                <a:solidFill>
                  <a:srgbClr val="B05B36"/>
                </a:solidFill>
                <a:latin typeface="Newsreader ExtraBold"/>
              </a:rPr>
              <a:t>italic-clay</a:t>
            </a:r>
            <a:r>
              <a:rPr sz="17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13000"/>
            <a:ext cx="12192000" cy="1397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00" b="0" i="0">
                <a:solidFill>
                  <a:srgbClr val="F4F0E6"/>
                </a:solidFill>
                <a:latin typeface="Newsreader Medium"/>
              </a:rPr>
              <a:t>[Section </a:t>
            </a:r>
            <a:r>
              <a:rPr sz="14400" b="0" i="1">
                <a:solidFill>
                  <a:srgbClr val="E07A52"/>
                </a:solidFill>
                <a:latin typeface="Newsreader ExtraBold"/>
              </a:rPr>
              <a:t>title</a:t>
            </a:r>
            <a:r>
              <a:rPr sz="14400" b="0" i="0">
                <a:solidFill>
                  <a:srgbClr val="F4F0E6"/>
                </a:solidFill>
                <a:latin typeface="Newsreader Medium"/>
              </a:rPr>
              <a:t>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7000"/>
            <a:ext cx="1219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spc="240">
                <a:solidFill>
                  <a:srgbClr val="6B7388"/>
                </a:solidFill>
                <a:latin typeface="JetBrains Mono Medium"/>
              </a:rPr>
              <a:t>[MONO UPPERCASE SUBTITLE · OPTIONAL]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400" y="4064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6FA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400" y="406400"/>
            <a:ext cx="3556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0A0E14"/>
                </a:solidFill>
                <a:latin typeface="JetBrains Mono ExtraBold"/>
              </a:rPr>
              <a:t>T10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7CF60F-AFF8-B948-83FA-F4A6D058E94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aced5ac-a316-4356-b436-85c31fcb54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1473</Words>
  <Application>Microsoft Macintosh PowerPoint</Application>
  <PresentationFormat>Widescreen</PresentationFormat>
  <Paragraphs>302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 Tight</vt:lpstr>
      <vt:lpstr>JetBrains Mono ExtraBold</vt:lpstr>
      <vt:lpstr>JetBrains Mono Medium</vt:lpstr>
      <vt:lpstr>Newsreader ExtraBold</vt:lpstr>
      <vt:lpstr>Newsreader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Brian Le</cp:lastModifiedBy>
  <cp:revision>3</cp:revision>
  <dcterms:created xsi:type="dcterms:W3CDTF">2013-01-27T09:14:16Z</dcterms:created>
  <dcterms:modified xsi:type="dcterms:W3CDTF">2026-05-13T12:14:18Z</dcterms:modified>
  <cp:category/>
</cp:coreProperties>
</file>
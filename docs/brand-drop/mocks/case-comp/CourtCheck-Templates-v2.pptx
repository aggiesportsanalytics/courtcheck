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T1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COVER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698500"/>
            <a:ext cx="109728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B05B36"/>
                </a:solidFill>
                <a:latin typeface="Newsreader"/>
              </a:rPr>
              <a:t>"</a:t>
            </a:r>
            <a:r>
              <a:rPr sz="1800" b="0" i="1">
                <a:solidFill>
                  <a:srgbClr val="1A1815"/>
                </a:solidFill>
                <a:latin typeface="Newsreader"/>
              </a:rPr>
              <a:t>[Hero pull quote that frames the work in one sentence. Attributed below.]</a:t>
            </a:r>
            <a:r>
              <a:rPr sz="2000" b="0" i="1">
                <a:solidFill>
                  <a:srgbClr val="B05B36"/>
                </a:solidFill>
                <a:latin typeface="Newsreader"/>
              </a:rPr>
              <a:t>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600" y="1524000"/>
            <a:ext cx="10972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" b="0" i="0" spc="220">
                <a:solidFill>
                  <a:srgbClr val="837F77"/>
                </a:solidFill>
                <a:latin typeface="JetBrains Mono"/>
              </a:rPr>
              <a:t>[ATTRIBUTION · NAME · ROLE · ORG]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" y="2032000"/>
            <a:ext cx="109728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40">
                <a:solidFill>
                  <a:srgbClr val="2E5341"/>
                </a:solidFill>
                <a:latin typeface="JetBrains Mono"/>
              </a:rPr>
              <a:t>2026 [EVENT NAME] · [TRACK OR CATEGORY]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9600" y="2286000"/>
            <a:ext cx="10972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1A1815"/>
                </a:solidFill>
                <a:latin typeface="Newsreader"/>
              </a:rPr>
              <a:t>[Project </a:t>
            </a:r>
            <a:r>
              <a:rPr sz="5600" b="0" i="1">
                <a:solidFill>
                  <a:srgbClr val="B05B36"/>
                </a:solidFill>
                <a:latin typeface="Newsreader"/>
              </a:rPr>
              <a:t>name</a:t>
            </a:r>
            <a:r>
              <a:rPr sz="5600" b="1" i="0">
                <a:solidFill>
                  <a:srgbClr val="1A1815"/>
                </a:solidFill>
                <a:latin typeface="Newsreader"/>
              </a:rPr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9600" y="39370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[One-sentence tagline that says what the product is and who it’s for. Concrete, not slogan-y.]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" y="5080000"/>
            <a:ext cx="26289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 i="0" spc="180">
                <a:solidFill>
                  <a:srgbClr val="837F77"/>
                </a:solidFill>
                <a:latin typeface="JetBrains Mono"/>
              </a:rPr>
              <a:t>PRESENTED BY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5257800"/>
            <a:ext cx="262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1">
                <a:solidFill>
                  <a:srgbClr val="B05B36"/>
                </a:solidFill>
                <a:latin typeface="Inter Tight"/>
              </a:rPr>
              <a:t>[Presenter name]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0" y="5524500"/>
            <a:ext cx="26289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3403A"/>
                </a:solidFill>
                <a:latin typeface="Inter Tight"/>
              </a:rPr>
              <a:t>[Role · Affiliation]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14700" y="5080000"/>
            <a:ext cx="6350" cy="69850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90900" y="5080000"/>
            <a:ext cx="26289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 i="0" spc="180">
                <a:solidFill>
                  <a:srgbClr val="837F77"/>
                </a:solidFill>
                <a:latin typeface="JetBrains Mono"/>
              </a:rPr>
              <a:t>TEAM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90900" y="5257800"/>
            <a:ext cx="262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815"/>
                </a:solidFill>
                <a:latin typeface="Inter Tight"/>
              </a:rPr>
              <a:t>[Co-presenters]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90900" y="5524500"/>
            <a:ext cx="26289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3403A"/>
                </a:solidFill>
                <a:latin typeface="Inter Tight"/>
              </a:rPr>
              <a:t>[Roles, comma separated]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96000" y="5080000"/>
            <a:ext cx="6350" cy="69850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72200" y="5080000"/>
            <a:ext cx="26289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 i="0" spc="180">
                <a:solidFill>
                  <a:srgbClr val="837F77"/>
                </a:solidFill>
                <a:latin typeface="JetBrains Mono"/>
              </a:rPr>
              <a:t>ADVISED BY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2200" y="5257800"/>
            <a:ext cx="262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815"/>
                </a:solidFill>
                <a:latin typeface="Inter Tight"/>
              </a:rPr>
              <a:t>[Advisor name]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5524500"/>
            <a:ext cx="26289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3403A"/>
                </a:solidFill>
                <a:latin typeface="Inter Tight"/>
              </a:rPr>
              <a:t>[Role · Affiliation]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77300" y="5080000"/>
            <a:ext cx="6350" cy="69850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53500" y="5080000"/>
            <a:ext cx="26289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 i="0" spc="180">
                <a:solidFill>
                  <a:srgbClr val="837F77"/>
                </a:solidFill>
                <a:latin typeface="JetBrains Mono"/>
              </a:rPr>
              <a:t>DATE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53500" y="5257800"/>
            <a:ext cx="2628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1815"/>
                </a:solidFill>
                <a:latin typeface="Inter Tight"/>
              </a:rPr>
              <a:t>[Month DD, YYYY]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53500" y="5524500"/>
            <a:ext cx="2628900" cy="165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3403A"/>
                </a:solidFill>
                <a:latin typeface="Inter Tight"/>
              </a:rPr>
              <a:t>[Venue · City]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EXECUTIVE SUMMARY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[Action title summarizing the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opportunity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and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9600" y="1524000"/>
            <a:ext cx="3556000" cy="3937000"/>
          </a:xfrm>
          <a:prstGeom prst="roundRect">
            <a:avLst>
              <a:gd name="adj" fmla="val 25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36600" y="1651000"/>
            <a:ext cx="190500" cy="1905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6600" y="1651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4F0E6"/>
                </a:solidFill>
                <a:latin typeface="JetBrains Mono"/>
              </a:rPr>
              <a:t>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6000" y="16510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2E5341"/>
                </a:solidFill>
                <a:latin typeface="JetBrains Mono"/>
              </a:rPr>
              <a:t>CHALLENGE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600" y="19685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[One-sentence framing.]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6600" y="27241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200" y="26670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1]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8200" y="28448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6600" y="31305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8200" y="30734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2]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8200" y="32512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600" y="35369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8200" y="34798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3]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8200" y="36576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6600" y="39433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8200" y="38862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4]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8200" y="40640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6600" y="4953000"/>
            <a:ext cx="3302000" cy="381000"/>
          </a:xfrm>
          <a:prstGeom prst="roundRect">
            <a:avLst>
              <a:gd name="adj" fmla="val 6666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2800" y="4991100"/>
            <a:ext cx="32385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837F77"/>
                </a:solidFill>
                <a:latin typeface="JetBrains Mono"/>
              </a:rPr>
              <a:t>PAIN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12800" y="51435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Newsreader"/>
              </a:rPr>
              <a:t>[$ at stake]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318000" y="1524000"/>
            <a:ext cx="3556000" cy="3937000"/>
          </a:xfrm>
          <a:prstGeom prst="roundRect">
            <a:avLst>
              <a:gd name="adj" fmla="val 25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445000" y="1651000"/>
            <a:ext cx="190500" cy="1905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45000" y="1651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4F0E6"/>
                </a:solidFill>
                <a:latin typeface="JetBrains Mono"/>
              </a:rPr>
              <a:t>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24400" y="16510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7B4E6E"/>
                </a:solidFill>
                <a:latin typeface="JetBrains Mono"/>
              </a:rPr>
              <a:t>SOLUTION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45000" y="19685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[One-sentence framing.]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445000" y="27241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46600" y="26670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1]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46600" y="28448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45000" y="31305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46600" y="30734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2]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46600" y="32512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445000" y="35369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46600" y="34798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3]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46600" y="36576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445000" y="3943350"/>
            <a:ext cx="31750" cy="3175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546600" y="38862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[Bullet 4]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46600" y="40640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37F7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45000" y="4953000"/>
            <a:ext cx="3302000" cy="381000"/>
          </a:xfrm>
          <a:prstGeom prst="roundRect">
            <a:avLst>
              <a:gd name="adj" fmla="val 6666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521200" y="4991100"/>
            <a:ext cx="32385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837F77"/>
                </a:solidFill>
                <a:latin typeface="JetBrains Mono"/>
              </a:rPr>
              <a:t>TIME TO VALUE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21200" y="51435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Newsreader"/>
              </a:rPr>
              <a:t>[N days]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026400" y="1524000"/>
            <a:ext cx="3556000" cy="3937000"/>
          </a:xfrm>
          <a:prstGeom prst="roundRect">
            <a:avLst>
              <a:gd name="adj" fmla="val 25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153399" y="1651000"/>
            <a:ext cx="190500" cy="1905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53399" y="1651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A1815"/>
                </a:solidFill>
                <a:latin typeface="JetBrains Mono"/>
              </a:rPr>
              <a:t>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32800" y="165100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20">
                <a:solidFill>
                  <a:srgbClr val="BFC846"/>
                </a:solidFill>
                <a:latin typeface="JetBrains Mono"/>
              </a:rPr>
              <a:t>IMPACT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153399" y="1968500"/>
            <a:ext cx="330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F0E6"/>
                </a:solidFill>
                <a:latin typeface="Inter Tight"/>
              </a:rPr>
              <a:t>[One-sentence framing.]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153399" y="2724150"/>
            <a:ext cx="31750" cy="3175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55000" y="26670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0CD"/>
                </a:solidFill>
                <a:latin typeface="Inter Tight"/>
              </a:rPr>
              <a:t>[Bullet 1]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55000" y="28448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AA9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153399" y="3130550"/>
            <a:ext cx="31750" cy="3175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255000" y="30734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0CD"/>
                </a:solidFill>
                <a:latin typeface="Inter Tight"/>
              </a:rPr>
              <a:t>[Bullet 2]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55000" y="32512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AA9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53399" y="3536950"/>
            <a:ext cx="31750" cy="3175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55000" y="34798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0CD"/>
                </a:solidFill>
                <a:latin typeface="Inter Tight"/>
              </a:rPr>
              <a:t>[Bullet 3]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55000" y="36576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AA9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153399" y="3943350"/>
            <a:ext cx="31750" cy="31750"/>
          </a:xfrm>
          <a:prstGeom prst="rect">
            <a:avLst/>
          </a:prstGeom>
          <a:solidFill>
            <a:srgbClr val="BFC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255000" y="3886200"/>
            <a:ext cx="32004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0CD"/>
                </a:solidFill>
                <a:latin typeface="Inter Tight"/>
              </a:rPr>
              <a:t>[Bullet 4]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255000" y="4064000"/>
            <a:ext cx="32004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B0AA97"/>
                </a:solidFill>
                <a:latin typeface="Inter Tight"/>
              </a:rPr>
              <a:t>[Supporting context · source]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153399" y="4953000"/>
            <a:ext cx="3302000" cy="381000"/>
          </a:xfrm>
          <a:prstGeom prst="roundRect">
            <a:avLst>
              <a:gd name="adj" fmla="val 6666"/>
            </a:avLst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29600" y="4991100"/>
            <a:ext cx="32385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B0AA97"/>
                </a:solidFill>
                <a:latin typeface="JetBrains Mono"/>
              </a:rPr>
              <a:t>TARGET ACV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9600" y="514350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BFC846"/>
                </a:solidFill>
                <a:latin typeface="Newsreader"/>
              </a:rPr>
              <a:t>[$N]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09600" y="5715000"/>
            <a:ext cx="31750" cy="508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41350" y="5715000"/>
            <a:ext cx="10941050" cy="50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12800" y="5715000"/>
            <a:ext cx="10617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A1815"/>
                </a:solidFill>
                <a:latin typeface="Inter Tight"/>
              </a:rPr>
              <a:t>[Bottom-line synthesis sentence with one </a:t>
            </a:r>
            <a:r>
              <a:rPr sz="1700" b="0" i="1">
                <a:solidFill>
                  <a:srgbClr val="B05B36"/>
                </a:solidFill>
                <a:latin typeface="Newsreader"/>
              </a:rPr>
              <a:t>italic-clay</a:t>
            </a:r>
            <a:r>
              <a:rPr sz="15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4-STAT CARDS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[Action title with one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italic-clay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word and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9600" y="1524000"/>
            <a:ext cx="2628900" cy="3556000"/>
          </a:xfrm>
          <a:prstGeom prst="roundRect">
            <a:avLst>
              <a:gd name="adj" fmla="val 338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600" y="1524000"/>
            <a:ext cx="2628900" cy="254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6600" y="1676400"/>
            <a:ext cx="215900" cy="2159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6600" y="16764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600" y="2159000"/>
            <a:ext cx="23749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Newsreader"/>
              </a:rPr>
              <a:t>[N]</a:t>
            </a:r>
            <a:r>
              <a:rPr sz="16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600" y="3302000"/>
            <a:ext cx="2374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43403A"/>
                </a:solidFill>
                <a:latin typeface="JetBrains Mono"/>
              </a:rPr>
              <a:t>[STAT DESCRIPTOR — WHAT THE NUMBER MEASURES]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6600" y="4521200"/>
            <a:ext cx="23749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6600" y="4597400"/>
            <a:ext cx="23749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PRIOR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6600" y="4762500"/>
            <a:ext cx="2374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[Comparison]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390900" y="1524000"/>
            <a:ext cx="2628900" cy="3556000"/>
          </a:xfrm>
          <a:prstGeom prst="roundRect">
            <a:avLst>
              <a:gd name="adj" fmla="val 338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90900" y="1524000"/>
            <a:ext cx="2628900" cy="254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517900" y="1676400"/>
            <a:ext cx="215900" cy="2159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17900" y="16764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17900" y="2159000"/>
            <a:ext cx="23749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Newsreader"/>
              </a:rPr>
              <a:t>[N]</a:t>
            </a:r>
            <a:r>
              <a:rPr sz="16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7900" y="3302000"/>
            <a:ext cx="2374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43403A"/>
                </a:solidFill>
                <a:latin typeface="JetBrains Mono"/>
              </a:rPr>
              <a:t>[STAT DESCRIPTOR — WHAT THE NUMBER MEASURES]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17900" y="4521200"/>
            <a:ext cx="23749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17900" y="4597400"/>
            <a:ext cx="23749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SOURCE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17900" y="4762500"/>
            <a:ext cx="2374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[Where measured]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72200" y="1524000"/>
            <a:ext cx="2628900" cy="3556000"/>
          </a:xfrm>
          <a:prstGeom prst="roundRect">
            <a:avLst>
              <a:gd name="adj" fmla="val 338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172200" y="1524000"/>
            <a:ext cx="2628900" cy="254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299200" y="1676400"/>
            <a:ext cx="215900" cy="2159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99200" y="16764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1A1815"/>
                </a:solidFill>
                <a:latin typeface="JetBrains Mono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99200" y="2159000"/>
            <a:ext cx="23749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Newsreader"/>
              </a:rPr>
              <a:t>[N]</a:t>
            </a:r>
            <a:r>
              <a:rPr sz="16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99200" y="3302000"/>
            <a:ext cx="2374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43403A"/>
                </a:solidFill>
                <a:latin typeface="JetBrains Mono"/>
              </a:rPr>
              <a:t>[STAT DESCRIPTOR — WHAT THE NUMBER MEASURES]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99200" y="4521200"/>
            <a:ext cx="23749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99200" y="4597400"/>
            <a:ext cx="23749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TREND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99200" y="4762500"/>
            <a:ext cx="2374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[Direction · pace]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953500" y="1524000"/>
            <a:ext cx="2628900" cy="3556000"/>
          </a:xfrm>
          <a:prstGeom prst="roundRect">
            <a:avLst>
              <a:gd name="adj" fmla="val 338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953500" y="1524000"/>
            <a:ext cx="2628900" cy="254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80500" y="1676400"/>
            <a:ext cx="215900" cy="2159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80500" y="16764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80500" y="2159000"/>
            <a:ext cx="23749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1A1815"/>
                </a:solidFill>
                <a:latin typeface="Newsreader"/>
              </a:rPr>
              <a:t>[N]</a:t>
            </a:r>
            <a:r>
              <a:rPr sz="16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80500" y="3302000"/>
            <a:ext cx="2374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60">
                <a:solidFill>
                  <a:srgbClr val="43403A"/>
                </a:solidFill>
                <a:latin typeface="JetBrains Mono"/>
              </a:rPr>
              <a:t>[STAT DESCRIPTOR — WHAT THE NUMBER MEASURES]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80500" y="4521200"/>
            <a:ext cx="23749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80500" y="4597400"/>
            <a:ext cx="23749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TARGET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80500" y="4762500"/>
            <a:ext cx="2374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[Goal value]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9600" y="5270500"/>
            <a:ext cx="31750" cy="4572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41350" y="5270500"/>
            <a:ext cx="10941050" cy="457200"/>
          </a:xfrm>
          <a:prstGeom prst="roundRect">
            <a:avLst>
              <a:gd name="adj" fmla="val 8333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2800" y="5270500"/>
            <a:ext cx="1061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[Contained thesis statement with one </a:t>
            </a:r>
            <a:r>
              <a:rPr sz="1600" b="0" i="1">
                <a:solidFill>
                  <a:srgbClr val="B05B36"/>
                </a:solidFill>
                <a:latin typeface="Newsreader"/>
              </a:rPr>
              <a:t>italic-clay</a:t>
            </a:r>
            <a:r>
              <a:rPr sz="14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09600" y="5842000"/>
            <a:ext cx="10972800" cy="317500"/>
          </a:xfrm>
          <a:prstGeom prst="roundRect">
            <a:avLst>
              <a:gd name="adj" fmla="val 8000"/>
            </a:avLst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711200" y="5918200"/>
            <a:ext cx="609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1200" y="5918200"/>
            <a:ext cx="609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INSIGHT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35100" y="5842000"/>
            <a:ext cx="10045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[One-line synthesis the presenter can land in 5 seconds.]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FAILURE CARDS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[Categorical action title with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italic accent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and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9600" y="1524000"/>
            <a:ext cx="10972800" cy="88900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9600" y="1524000"/>
            <a:ext cx="38100" cy="889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25500" y="1841500"/>
            <a:ext cx="254000" cy="2540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5500" y="1841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70000" y="1676400"/>
            <a:ext cx="2032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[Option 1]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70000" y="1981199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BUILT FOR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70000" y="21082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56000" y="16764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WHY IT FAILS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56000" y="1841500"/>
            <a:ext cx="558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98000" y="16764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SIGNAL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98000" y="1841500"/>
            <a:ext cx="2032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"/>
              </a:rPr>
              <a:t>[Value]</a:t>
            </a:r>
            <a:r>
              <a:rPr sz="11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600" y="2514600"/>
            <a:ext cx="10972800" cy="88900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9600" y="2514600"/>
            <a:ext cx="38100" cy="8890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25500" y="2832100"/>
            <a:ext cx="254000" cy="2540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5500" y="2832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70000" y="2667000"/>
            <a:ext cx="2032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[Option 2]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70000" y="29718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BUILT FOR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70000" y="30988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56000" y="26670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WHY IT FAILS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56000" y="2832100"/>
            <a:ext cx="558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98000" y="26670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SIGNAL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98000" y="2832100"/>
            <a:ext cx="2032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"/>
              </a:rPr>
              <a:t>[Value]</a:t>
            </a:r>
            <a:r>
              <a:rPr sz="11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09600" y="3505200"/>
            <a:ext cx="10972800" cy="88900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9600" y="3505200"/>
            <a:ext cx="38100" cy="8890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25500" y="3822700"/>
            <a:ext cx="254000" cy="2540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25500" y="3822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A1815"/>
                </a:solidFill>
                <a:latin typeface="JetBrains Mono"/>
              </a:rPr>
              <a:t>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70000" y="3657600"/>
            <a:ext cx="2032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[Option 3]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70000" y="3962399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BUILT FOR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70000" y="40894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56000" y="36576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WHY IT FAILS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56000" y="3822700"/>
            <a:ext cx="558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98000" y="36576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SIGNAL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98000" y="3822700"/>
            <a:ext cx="2032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"/>
              </a:rPr>
              <a:t>[Value]</a:t>
            </a:r>
            <a:r>
              <a:rPr sz="11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09600" y="4495800"/>
            <a:ext cx="10972800" cy="889000"/>
          </a:xfrm>
          <a:prstGeom prst="roundRect">
            <a:avLst>
              <a:gd name="adj" fmla="val 10000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09600" y="4495800"/>
            <a:ext cx="38100" cy="8890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25500" y="4813300"/>
            <a:ext cx="254000" cy="2540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5500" y="48133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70000" y="4648200"/>
            <a:ext cx="2032000" cy="241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[Option 4]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70000" y="49530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BUILT FOR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70000" y="5080000"/>
            <a:ext cx="2032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3403A"/>
                </a:solidFill>
                <a:latin typeface="Inter Tight"/>
              </a:rPr>
              <a:t>[built for whom]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56000" y="46482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WHY IT FAILS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56000" y="4813300"/>
            <a:ext cx="558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[Why it fails for the actual buyer. Two short sentences max.]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98000" y="4648200"/>
            <a:ext cx="2032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SIGNAL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98000" y="4813300"/>
            <a:ext cx="2032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815"/>
                </a:solidFill>
                <a:latin typeface="Newsreader"/>
              </a:rPr>
              <a:t>[Value]</a:t>
            </a:r>
            <a:r>
              <a:rPr sz="1100" b="0" i="0">
                <a:solidFill>
                  <a:srgbClr val="837F77"/>
                </a:solidFill>
                <a:latin typeface="Inter Tight"/>
              </a:rPr>
              <a:t> [unit]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9600" y="5842000"/>
            <a:ext cx="10972800" cy="317500"/>
          </a:xfrm>
          <a:prstGeom prst="roundRect">
            <a:avLst>
              <a:gd name="adj" fmla="val 8000"/>
            </a:avLst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711200" y="5918200"/>
            <a:ext cx="609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1200" y="5918200"/>
            <a:ext cx="609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INSIGHT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35100" y="5842000"/>
            <a:ext cx="10045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[One-line synthesis of why every option misses and what the gap looks like.]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SIDEBAR + CHART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[Sidebar-and-chart action title with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italic accent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and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09600" y="1524000"/>
            <a:ext cx="3429000" cy="4190999"/>
          </a:xfrm>
          <a:prstGeom prst="roundRect">
            <a:avLst>
              <a:gd name="adj" fmla="val 2592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62000" y="17018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2000" y="1701800"/>
            <a:ext cx="2413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0" b="1" i="0">
                <a:solidFill>
                  <a:srgbClr val="F4F0E6"/>
                </a:solidFill>
                <a:latin typeface="JetBrains Mono"/>
              </a:rPr>
              <a:t>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7600" y="1727200"/>
            <a:ext cx="2730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[Key point I.]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17600" y="19431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75" name="Oval 74"/>
          <p:cNvSpPr/>
          <p:nvPr/>
        </p:nvSpPr>
        <p:spPr>
          <a:xfrm>
            <a:off x="762000" y="25908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2000" y="2590800"/>
            <a:ext cx="2413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0" b="1" i="0">
                <a:solidFill>
                  <a:srgbClr val="F4F0E6"/>
                </a:solidFill>
                <a:latin typeface="JetBrains Mono"/>
              </a:rPr>
              <a:t>II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7600" y="2616200"/>
            <a:ext cx="2730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[Key point II.]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17600" y="28321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79" name="Oval 78"/>
          <p:cNvSpPr/>
          <p:nvPr/>
        </p:nvSpPr>
        <p:spPr>
          <a:xfrm>
            <a:off x="762000" y="34798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2000" y="3479800"/>
            <a:ext cx="2413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0" b="1" i="0">
                <a:solidFill>
                  <a:srgbClr val="F4F0E6"/>
                </a:solidFill>
                <a:latin typeface="JetBrains Mono"/>
              </a:rPr>
              <a:t>III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7600" y="3505200"/>
            <a:ext cx="2730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[Key point III.]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7600" y="37211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83" name="Oval 82"/>
          <p:cNvSpPr/>
          <p:nvPr/>
        </p:nvSpPr>
        <p:spPr>
          <a:xfrm>
            <a:off x="762000" y="4368800"/>
            <a:ext cx="241300" cy="2413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2000" y="4368800"/>
            <a:ext cx="241300" cy="241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30" b="1" i="0">
                <a:solidFill>
                  <a:srgbClr val="F4F0E6"/>
                </a:solidFill>
                <a:latin typeface="JetBrains Mono"/>
              </a:rPr>
              <a:t>IV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7600" y="4394200"/>
            <a:ext cx="27305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[Key point IV.]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17600" y="4610100"/>
            <a:ext cx="2730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37F77"/>
                </a:solidFill>
                <a:latin typeface="Inter Tight"/>
              </a:rPr>
              <a:t>[Sub-detail · source · tool. Two short lines max.]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90999" y="1524000"/>
            <a:ext cx="7391400" cy="4190999"/>
          </a:xfrm>
          <a:prstGeom prst="roundRect">
            <a:avLst>
              <a:gd name="adj" fmla="val 2121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43400" y="1676400"/>
            <a:ext cx="70866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2E5341"/>
                </a:solidFill>
                <a:latin typeface="JetBrains Mono"/>
              </a:rPr>
              <a:t>[CHART CAPTION · WHAT IS BEING SHOWN]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43400" y="2209800"/>
            <a:ext cx="698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[Series A]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80000" y="2159000"/>
            <a:ext cx="5080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80000" y="2159000"/>
            <a:ext cx="4470400" cy="228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261600" y="21844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43400" y="2641600"/>
            <a:ext cx="698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[Series B]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080000" y="2590800"/>
            <a:ext cx="5080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080000" y="2590800"/>
            <a:ext cx="3251200" cy="2286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61600" y="26162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43400" y="3073400"/>
            <a:ext cx="698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[Series C]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80000" y="3022600"/>
            <a:ext cx="5080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80000" y="3022600"/>
            <a:ext cx="2438400" cy="2286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1600" y="30480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43400" y="3505200"/>
            <a:ext cx="698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[Series D]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080000" y="3454400"/>
            <a:ext cx="5080000" cy="228600"/>
          </a:xfrm>
          <a:prstGeom prst="rect">
            <a:avLst/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080000" y="3454400"/>
            <a:ext cx="1625600" cy="2286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61600" y="347980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80000" y="38862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991100" y="3949700"/>
            <a:ext cx="1778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37F77"/>
                </a:solidFill>
                <a:latin typeface="JetBrains Mono"/>
              </a:rPr>
              <a:t>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0000" y="38862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61100" y="3949700"/>
            <a:ext cx="1778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37F77"/>
                </a:solidFill>
                <a:latin typeface="JetBrains Mono"/>
              </a:rPr>
              <a:t>25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620000" y="38862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31100" y="3949700"/>
            <a:ext cx="1778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37F77"/>
                </a:solidFill>
                <a:latin typeface="JetBrains Mono"/>
              </a:rPr>
              <a:t>50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90000" y="38862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01100" y="3949700"/>
            <a:ext cx="1778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37F77"/>
                </a:solidFill>
                <a:latin typeface="JetBrains Mono"/>
              </a:rPr>
              <a:t>75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60000" y="3886200"/>
            <a:ext cx="6350" cy="3810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71100" y="3949700"/>
            <a:ext cx="1778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837F77"/>
                </a:solidFill>
                <a:latin typeface="JetBrains Mono"/>
              </a:rPr>
              <a:t>100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343400" y="4241800"/>
            <a:ext cx="101600" cy="762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495800" y="42164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403A"/>
                </a:solidFill>
                <a:latin typeface="Inter Tight"/>
              </a:rPr>
              <a:t>[Series A]</a:t>
            </a:r>
            <a:r>
              <a:rPr sz="800" b="0" i="0">
                <a:solidFill>
                  <a:srgbClr val="837F77"/>
                </a:solidFill>
                <a:latin typeface="JetBrains Mono"/>
              </a:rPr>
              <a:t>  · n=[N]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1400" y="4241800"/>
            <a:ext cx="101600" cy="762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73800" y="42164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403A"/>
                </a:solidFill>
                <a:latin typeface="Inter Tight"/>
              </a:rPr>
              <a:t>[Series B]</a:t>
            </a:r>
            <a:r>
              <a:rPr sz="800" b="0" i="0">
                <a:solidFill>
                  <a:srgbClr val="837F77"/>
                </a:solidFill>
                <a:latin typeface="JetBrains Mono"/>
              </a:rPr>
              <a:t>  · n=[N]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899400" y="4241800"/>
            <a:ext cx="101600" cy="762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051800" y="42164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403A"/>
                </a:solidFill>
                <a:latin typeface="Inter Tight"/>
              </a:rPr>
              <a:t>[Series C]</a:t>
            </a:r>
            <a:r>
              <a:rPr sz="800" b="0" i="0">
                <a:solidFill>
                  <a:srgbClr val="837F77"/>
                </a:solidFill>
                <a:latin typeface="JetBrains Mono"/>
              </a:rPr>
              <a:t>  · n=[N]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77400" y="4241800"/>
            <a:ext cx="101600" cy="762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29800" y="42164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43403A"/>
                </a:solidFill>
                <a:latin typeface="Inter Tight"/>
              </a:rPr>
              <a:t>[Series D]</a:t>
            </a:r>
            <a:r>
              <a:rPr sz="800" b="0" i="0">
                <a:solidFill>
                  <a:srgbClr val="837F77"/>
                </a:solidFill>
                <a:latin typeface="JetBrains Mono"/>
              </a:rPr>
              <a:t>  · n=[N]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43400" y="5524500"/>
            <a:ext cx="70866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0">
                <a:solidFill>
                  <a:srgbClr val="837F77"/>
                </a:solidFill>
                <a:latin typeface="JetBrains Mono"/>
              </a:rPr>
              <a:t>SOURCE · [DATASET · YEAR · N=[N]]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09600" y="5842000"/>
            <a:ext cx="10972800" cy="317500"/>
          </a:xfrm>
          <a:prstGeom prst="roundRect">
            <a:avLst>
              <a:gd name="adj" fmla="val 8000"/>
            </a:avLst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11200" y="5918200"/>
            <a:ext cx="609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1200" y="5918200"/>
            <a:ext cx="609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INSIGHT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35100" y="5842000"/>
            <a:ext cx="10045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[One-line synthesis of what the chart proves and what action it implies.]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STEP PROGRESSION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[Methodology or framework title in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four steps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to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9600" y="1524000"/>
            <a:ext cx="25400" cy="40640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49300" y="1612900"/>
            <a:ext cx="279400" cy="279400"/>
          </a:xfrm>
          <a:prstGeom prst="ellipse">
            <a:avLst/>
          </a:prstGeom>
          <a:solidFill>
            <a:srgbClr val="F4F0E6"/>
          </a:solidFill>
          <a:ln w="25400">
            <a:solidFill>
              <a:srgbClr val="2E5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300" y="16129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5341"/>
                </a:solidFill>
                <a:latin typeface="JetBrains Mono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00" y="2082800"/>
            <a:ext cx="2362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[Step 1]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300" y="2451100"/>
            <a:ext cx="23622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00" y="43180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TOOL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300" y="44577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[Tool or method]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300" y="47625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OUTPUT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300" y="49022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[Concrete artifact]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38500" y="1727200"/>
            <a:ext cx="1143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76600" y="1638300"/>
            <a:ext cx="152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03600" y="1524000"/>
            <a:ext cx="25400" cy="4064000"/>
          </a:xfrm>
          <a:prstGeom prst="rect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543300" y="1612900"/>
            <a:ext cx="279400" cy="279400"/>
          </a:xfrm>
          <a:prstGeom prst="ellipse">
            <a:avLst/>
          </a:prstGeom>
          <a:solidFill>
            <a:srgbClr val="F4F0E6"/>
          </a:solidFill>
          <a:ln w="25400">
            <a:solidFill>
              <a:srgbClr val="7B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43300" y="16129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7B4E6E"/>
                </a:solidFill>
                <a:latin typeface="JetBrains Mono"/>
              </a:rPr>
              <a:t>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43300" y="2082800"/>
            <a:ext cx="2362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[Step 2]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43300" y="2451100"/>
            <a:ext cx="23622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43300" y="43180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TOOL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43300" y="44577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[Tool or method]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43300" y="47625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OUTPUT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43300" y="49022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[Concrete artifact]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32500" y="1727200"/>
            <a:ext cx="1143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70600" y="1638300"/>
            <a:ext cx="152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7600" y="1524000"/>
            <a:ext cx="25400" cy="4064000"/>
          </a:xfrm>
          <a:prstGeom prst="rect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37300" y="1612900"/>
            <a:ext cx="279400" cy="279400"/>
          </a:xfrm>
          <a:prstGeom prst="ellipse">
            <a:avLst/>
          </a:prstGeom>
          <a:solidFill>
            <a:srgbClr val="F4F0E6"/>
          </a:solidFill>
          <a:ln w="25400">
            <a:solidFill>
              <a:srgbClr val="C89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37300" y="16129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8923A"/>
                </a:solidFill>
                <a:latin typeface="JetBrains Mono"/>
              </a:rPr>
              <a:t>03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37300" y="2082800"/>
            <a:ext cx="2362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[Step 3]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37300" y="2451100"/>
            <a:ext cx="23622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37300" y="43180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TOOL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37300" y="44577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[Tool or method]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37300" y="47625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OUTPUT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37300" y="49022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[Concrete artifact]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26500" y="1727200"/>
            <a:ext cx="1143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64600" y="1638300"/>
            <a:ext cx="152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91600" y="1524000"/>
            <a:ext cx="25400" cy="40640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131300" y="1612900"/>
            <a:ext cx="279400" cy="279400"/>
          </a:xfrm>
          <a:prstGeom prst="ellipse">
            <a:avLst/>
          </a:prstGeom>
          <a:solidFill>
            <a:srgbClr val="F4F0E6"/>
          </a:solidFill>
          <a:ln w="25400">
            <a:solidFill>
              <a:srgbClr val="B05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31300" y="16129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B05B36"/>
                </a:solidFill>
                <a:latin typeface="JetBrains Mono"/>
              </a:rPr>
              <a:t>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31300" y="2082800"/>
            <a:ext cx="2362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A1815"/>
                </a:solidFill>
                <a:latin typeface="Inter Tight"/>
              </a:rPr>
              <a:t>[Step 4]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31300" y="2451100"/>
            <a:ext cx="23622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43403A"/>
                </a:solidFill>
                <a:latin typeface="Inter Tight"/>
              </a:rPr>
              <a:t>[Two-sentence description of what happens in this step and why it matters. Keep it concrete.]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31300" y="43180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TOOL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31300" y="44577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[Tool or method]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31300" y="476250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OUTPUT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31300" y="4902200"/>
            <a:ext cx="2362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[Concrete artifact]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9600" y="5842000"/>
            <a:ext cx="31750" cy="482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641350" y="5842000"/>
            <a:ext cx="10941050" cy="482600"/>
          </a:xfrm>
          <a:prstGeom prst="roundRect">
            <a:avLst>
              <a:gd name="adj" fmla="val 789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12800" y="5842000"/>
            <a:ext cx="106172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[Synthesis: what the four steps together produce, with one </a:t>
            </a:r>
            <a:r>
              <a:rPr sz="1600" b="0" i="1">
                <a:solidFill>
                  <a:srgbClr val="B05B36"/>
                </a:solidFill>
                <a:latin typeface="Newsreader"/>
              </a:rPr>
              <a:t>italic-clay</a:t>
            </a:r>
            <a:r>
              <a:rPr sz="14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CLUSTER ACTION TABLE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[Decision-framework title pairing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cluster × state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 to drive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2000" y="1524000"/>
            <a:ext cx="2159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37F77"/>
                </a:solidFill>
                <a:latin typeface="JetBrains Mono"/>
              </a:rPr>
              <a:t>CLUSTER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21000" y="1524000"/>
            <a:ext cx="1397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37F77"/>
                </a:solidFill>
                <a:latin typeface="JetBrains Mono"/>
              </a:rPr>
              <a:t>STATE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8000" y="15240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37F77"/>
                </a:solidFill>
                <a:latin typeface="JetBrains Mono"/>
              </a:rPr>
              <a:t>SUGGESTED ACTION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0" y="1524000"/>
            <a:ext cx="25908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37F77"/>
                </a:solidFill>
                <a:latin typeface="JetBrains Mono"/>
              </a:rPr>
              <a:t>EXAMPLES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2000" y="1803400"/>
            <a:ext cx="106680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2000" y="2108200"/>
            <a:ext cx="215900" cy="2159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2000" y="21082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01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54100" y="21463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4100" y="2146300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CLUSTER 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21000" y="21463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318000" y="2082800"/>
            <a:ext cx="4635500" cy="419100"/>
          </a:xfrm>
          <a:prstGeom prst="roundRect">
            <a:avLst>
              <a:gd name="adj" fmla="val 909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18000" y="2082800"/>
            <a:ext cx="25400" cy="4191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45000" y="2082800"/>
            <a:ext cx="4445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[Action for Cluster A ↑ Over state. One direct sentence.]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44000" y="2108200"/>
            <a:ext cx="2463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0" y="2311400"/>
            <a:ext cx="2463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2000" y="2654300"/>
            <a:ext cx="106680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62000" y="2844800"/>
            <a:ext cx="215900" cy="2159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2000" y="28448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02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54100" y="28829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4100" y="2882900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CLUSTER 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21000" y="28829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↓ Under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18000" y="2819400"/>
            <a:ext cx="4635500" cy="419100"/>
          </a:xfrm>
          <a:prstGeom prst="roundRect">
            <a:avLst>
              <a:gd name="adj" fmla="val 909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18000" y="2819400"/>
            <a:ext cx="25400" cy="4191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45000" y="2819400"/>
            <a:ext cx="4445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[Action for Cluster A ↓ Under state. One direct sentence.]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2844800"/>
            <a:ext cx="2463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0" y="3048000"/>
            <a:ext cx="2463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2000" y="3390900"/>
            <a:ext cx="106680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62000" y="3581400"/>
            <a:ext cx="215900" cy="2159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2000" y="35814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03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54100" y="36195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54100" y="3619500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CLUSTER 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921000" y="36195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318000" y="3556000"/>
            <a:ext cx="4635500" cy="419100"/>
          </a:xfrm>
          <a:prstGeom prst="roundRect">
            <a:avLst>
              <a:gd name="adj" fmla="val 909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18000" y="3556000"/>
            <a:ext cx="25400" cy="4191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445000" y="3556000"/>
            <a:ext cx="4445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[Action for Cluster B ↑ Over state. One direct sentence.]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0" y="3581400"/>
            <a:ext cx="2463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44000" y="3784600"/>
            <a:ext cx="2463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62000" y="4127500"/>
            <a:ext cx="106680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62000" y="4318000"/>
            <a:ext cx="215900" cy="2159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2000" y="43180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1A1815"/>
                </a:solidFill>
                <a:latin typeface="JetBrains Mono"/>
              </a:rPr>
              <a:t>04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054100" y="43561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4100" y="4356100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CLUSTER C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21000" y="43561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↓ Under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318000" y="4292600"/>
            <a:ext cx="4635500" cy="419100"/>
          </a:xfrm>
          <a:prstGeom prst="roundRect">
            <a:avLst>
              <a:gd name="adj" fmla="val 909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318000" y="4292600"/>
            <a:ext cx="25400" cy="4191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45000" y="4292600"/>
            <a:ext cx="4445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[Action for Cluster C ↓ Under state. One direct sentence.]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44000" y="4318000"/>
            <a:ext cx="2463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44000" y="4521200"/>
            <a:ext cx="2463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62000" y="4864100"/>
            <a:ext cx="10668000" cy="6350"/>
          </a:xfrm>
          <a:prstGeom prst="rect">
            <a:avLst/>
          </a:prstGeom>
          <a:solidFill>
            <a:srgbClr val="EAE4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62000" y="5054600"/>
            <a:ext cx="215900" cy="215900"/>
          </a:xfrm>
          <a:prstGeom prst="ellipse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2000" y="5054600"/>
            <a:ext cx="2159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89" b="1" i="0">
                <a:solidFill>
                  <a:srgbClr val="F4F0E6"/>
                </a:solidFill>
                <a:latin typeface="JetBrains Mono"/>
              </a:rPr>
              <a:t>05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54100" y="5092700"/>
            <a:ext cx="1460500" cy="190500"/>
          </a:xfrm>
          <a:prstGeom prst="roundRect">
            <a:avLst>
              <a:gd name="adj" fmla="val 50000"/>
            </a:avLst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54100" y="5092700"/>
            <a:ext cx="146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CLUSTER 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21000" y="50927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↑ Over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318000" y="5029200"/>
            <a:ext cx="4635500" cy="419100"/>
          </a:xfrm>
          <a:prstGeom prst="roundRect">
            <a:avLst>
              <a:gd name="adj" fmla="val 9090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318000" y="5029200"/>
            <a:ext cx="25400" cy="4191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445000" y="5029200"/>
            <a:ext cx="4445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[Action for Cluster D ↑ Over state. One direct sentence.]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144000" y="5054600"/>
            <a:ext cx="2463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[Entity 1, Entity 2]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144000" y="5257800"/>
            <a:ext cx="2463800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37F77"/>
                </a:solidFill>
                <a:latin typeface="Inter Tight"/>
              </a:rPr>
              <a:t>[n=N · owner · timing]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09600" y="5842000"/>
            <a:ext cx="31750" cy="482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41350" y="5842000"/>
            <a:ext cx="10941050" cy="482600"/>
          </a:xfrm>
          <a:prstGeom prst="roundRect">
            <a:avLst>
              <a:gd name="adj" fmla="val 789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12800" y="5842000"/>
            <a:ext cx="106172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[Prioritize action across clusters by </a:t>
            </a:r>
            <a:r>
              <a:rPr sz="1600" b="0" i="1">
                <a:solidFill>
                  <a:srgbClr val="B05B36"/>
                </a:solidFill>
                <a:latin typeface="Newsreader"/>
              </a:rPr>
              <a:t>[lever]</a:t>
            </a:r>
            <a:r>
              <a:rPr sz="1400" b="1" i="0">
                <a:solidFill>
                  <a:srgbClr val="1A1815"/>
                </a:solidFill>
                <a:latin typeface="Inter Tight"/>
              </a:rPr>
              <a:t>. One-line decision rule.]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BIG-NUMBER CONTRAST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The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contrast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, in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9600" y="16510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1A1815"/>
                </a:solidFill>
                <a:latin typeface="Newsreader"/>
              </a:rPr>
              <a:t>[A]</a:t>
            </a:r>
            <a:r>
              <a:rPr sz="30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9600" y="34290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43403A"/>
                </a:solidFill>
                <a:latin typeface="JetBrains Mono"/>
              </a:rPr>
              <a:t>[BEFORE · CONTEXT]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88000" y="2032000"/>
            <a:ext cx="50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0000" y="16510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6E7522"/>
                </a:solidFill>
                <a:latin typeface="Newsreader"/>
              </a:rPr>
              <a:t>[B]</a:t>
            </a:r>
            <a:r>
              <a:rPr sz="3000" b="0" i="0">
                <a:solidFill>
                  <a:srgbClr val="837F77"/>
                </a:solidFill>
                <a:latin typeface="Newsreader"/>
              </a:rPr>
              <a:t>unit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50000" y="34290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43403A"/>
                </a:solidFill>
                <a:latin typeface="JetBrains Mono"/>
              </a:rPr>
              <a:t>[AFTER · CONTEXT]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09600" y="3937000"/>
            <a:ext cx="10972800" cy="355600"/>
          </a:xfrm>
          <a:prstGeom prst="roundRect">
            <a:avLst>
              <a:gd name="adj" fmla="val 7142"/>
            </a:avLst>
          </a:prstGeom>
          <a:solidFill>
            <a:srgbClr val="ECE6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2000" y="3937000"/>
            <a:ext cx="106553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200">
                <a:solidFill>
                  <a:srgbClr val="837F77"/>
                </a:solidFill>
                <a:latin typeface="JetBrains Mono"/>
              </a:rPr>
              <a:t>DELTA  </a:t>
            </a:r>
            <a:r>
              <a:rPr sz="1600" b="1" i="0">
                <a:solidFill>
                  <a:srgbClr val="1A1815"/>
                </a:solidFill>
                <a:latin typeface="Newsreader"/>
              </a:rPr>
              <a:t>[-N%]</a:t>
            </a:r>
            <a:r>
              <a:rPr sz="1000" b="0" i="0">
                <a:solidFill>
                  <a:srgbClr val="837F77"/>
                </a:solidFill>
                <a:latin typeface="JetBrains Mono"/>
              </a:rPr>
              <a:t>    ·    </a:t>
            </a:r>
            <a:r>
              <a:rPr sz="1000" b="1" i="0" spc="200">
                <a:solidFill>
                  <a:srgbClr val="837F77"/>
                </a:solidFill>
                <a:latin typeface="JetBrains Mono"/>
              </a:rPr>
              <a:t>SOURCE  </a:t>
            </a:r>
            <a:r>
              <a:rPr sz="1200" b="0" i="0">
                <a:solidFill>
                  <a:srgbClr val="43403A"/>
                </a:solidFill>
                <a:latin typeface="Inter Tight"/>
              </a:rPr>
              <a:t>[Method · sample size]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9600" y="4445000"/>
            <a:ext cx="3589866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11200" y="4546600"/>
            <a:ext cx="190500" cy="1905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1200" y="45466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4F0E6"/>
                </a:solidFill>
                <a:latin typeface="JetBrains Mono"/>
              </a:rPr>
              <a:t>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1200" y="4826000"/>
            <a:ext cx="3386666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1200" y="5207000"/>
            <a:ext cx="33866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815"/>
                </a:solidFill>
                <a:latin typeface="Inter Tight"/>
              </a:rPr>
              <a:t>[Secondary stat one]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200" y="5397500"/>
            <a:ext cx="33866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0">
                <a:solidFill>
                  <a:srgbClr val="837F77"/>
                </a:solidFill>
                <a:latin typeface="JetBrains Mono"/>
              </a:rPr>
              <a:t>SOURCE</a:t>
            </a:r>
            <a:r>
              <a:rPr sz="900" b="0" i="0">
                <a:solidFill>
                  <a:srgbClr val="43403A"/>
                </a:solidFill>
                <a:latin typeface="Inter Tight"/>
              </a:rPr>
              <a:t>  [Value]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01066" y="4445000"/>
            <a:ext cx="3589866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4402666" y="4546600"/>
            <a:ext cx="190500" cy="190500"/>
          </a:xfrm>
          <a:prstGeom prst="ellipse">
            <a:avLst/>
          </a:prstGeom>
          <a:solidFill>
            <a:srgbClr val="7B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02666" y="45466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4F0E6"/>
                </a:solidFill>
                <a:latin typeface="JetBrains Mono"/>
              </a:rPr>
              <a:t>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2666" y="4826000"/>
            <a:ext cx="3386666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815"/>
                </a:solidFill>
                <a:latin typeface="Newsreader"/>
              </a:rPr>
              <a:t>[N%]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02666" y="5207000"/>
            <a:ext cx="33866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815"/>
                </a:solidFill>
                <a:latin typeface="Inter Tight"/>
              </a:rPr>
              <a:t>[Secondary stat two]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02666" y="5397500"/>
            <a:ext cx="33866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0">
                <a:solidFill>
                  <a:srgbClr val="837F77"/>
                </a:solidFill>
                <a:latin typeface="JetBrains Mono"/>
              </a:rPr>
              <a:t>PRIOR</a:t>
            </a:r>
            <a:r>
              <a:rPr sz="900" b="0" i="0">
                <a:solidFill>
                  <a:srgbClr val="43403A"/>
                </a:solidFill>
                <a:latin typeface="Inter Tight"/>
              </a:rPr>
              <a:t>  [Value]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992533" y="4445000"/>
            <a:ext cx="3589866" cy="1143000"/>
          </a:xfrm>
          <a:prstGeom prst="roundRect">
            <a:avLst>
              <a:gd name="adj" fmla="val 7777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094133" y="4546600"/>
            <a:ext cx="190500" cy="190500"/>
          </a:xfrm>
          <a:prstGeom prst="ellipse">
            <a:avLst/>
          </a:prstGeom>
          <a:solidFill>
            <a:srgbClr val="C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94133" y="45466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A1815"/>
                </a:solidFill>
                <a:latin typeface="JetBrains Mono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94133" y="4826000"/>
            <a:ext cx="3386666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815"/>
                </a:solidFill>
                <a:latin typeface="Newsreader"/>
              </a:rPr>
              <a:t>[N]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94133" y="5207000"/>
            <a:ext cx="33866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815"/>
                </a:solidFill>
                <a:latin typeface="Inter Tight"/>
              </a:rPr>
              <a:t>[Secondary stat three]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94133" y="5397500"/>
            <a:ext cx="33866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 i="0" spc="180">
                <a:solidFill>
                  <a:srgbClr val="837F77"/>
                </a:solidFill>
                <a:latin typeface="JetBrains Mono"/>
              </a:rPr>
              <a:t>TREND</a:t>
            </a:r>
            <a:r>
              <a:rPr sz="900" b="0" i="0">
                <a:solidFill>
                  <a:srgbClr val="43403A"/>
                </a:solidFill>
                <a:latin typeface="Inter Tight"/>
              </a:rPr>
              <a:t>  [Value]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09600" y="5842000"/>
            <a:ext cx="10972800" cy="317500"/>
          </a:xfrm>
          <a:prstGeom prst="roundRect">
            <a:avLst>
              <a:gd name="adj" fmla="val 8000"/>
            </a:avLst>
          </a:prstGeom>
          <a:solidFill>
            <a:srgbClr val="EFE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11200" y="5918200"/>
            <a:ext cx="609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1200" y="5918200"/>
            <a:ext cx="609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180">
                <a:solidFill>
                  <a:srgbClr val="F4F0E6"/>
                </a:solidFill>
                <a:latin typeface="JetBrains Mono"/>
              </a:rPr>
              <a:t>INSIGHT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435100" y="5842000"/>
            <a:ext cx="100457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3403A"/>
                </a:solidFill>
                <a:latin typeface="Inter Tight"/>
              </a:rPr>
              <a:t>[One-line synthesis of why this contrast matters and what action it implies.]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6375" cy="88900"/>
          </a:xfrm>
          <a:prstGeom prst="rect">
            <a:avLst/>
          </a:prstGeom>
          <a:solidFill>
            <a:srgbClr val="B0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3200" y="0"/>
            <a:ext cx="206375" cy="88900"/>
          </a:xfrm>
          <a:prstGeom prst="rect">
            <a:avLst/>
          </a:prstGeom>
          <a:solidFill>
            <a:srgbClr val="AE5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" y="0"/>
            <a:ext cx="206375" cy="88900"/>
          </a:xfrm>
          <a:prstGeom prst="rect">
            <a:avLst/>
          </a:prstGeom>
          <a:solidFill>
            <a:srgbClr val="AC5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0"/>
            <a:ext cx="206375" cy="88900"/>
          </a:xfrm>
          <a:prstGeom prst="rect">
            <a:avLst/>
          </a:prstGeom>
          <a:solidFill>
            <a:srgbClr val="AA5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0"/>
            <a:ext cx="206375" cy="88900"/>
          </a:xfrm>
          <a:prstGeom prst="rect">
            <a:avLst/>
          </a:prstGeom>
          <a:solidFill>
            <a:srgbClr val="A85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6000" y="0"/>
            <a:ext cx="206375" cy="88900"/>
          </a:xfrm>
          <a:prstGeom prst="rect">
            <a:avLst/>
          </a:prstGeom>
          <a:solidFill>
            <a:srgbClr val="A75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9200" y="0"/>
            <a:ext cx="206375" cy="88900"/>
          </a:xfrm>
          <a:prstGeom prst="rect">
            <a:avLst/>
          </a:prstGeom>
          <a:solidFill>
            <a:srgbClr val="A55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22400" y="0"/>
            <a:ext cx="206375" cy="88900"/>
          </a:xfrm>
          <a:prstGeom prst="rect">
            <a:avLst/>
          </a:prstGeom>
          <a:solidFill>
            <a:srgbClr val="A357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25600" y="0"/>
            <a:ext cx="206375" cy="88900"/>
          </a:xfrm>
          <a:prstGeom prst="rect">
            <a:avLst/>
          </a:prstGeom>
          <a:solidFill>
            <a:srgbClr val="A15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0"/>
            <a:ext cx="206375" cy="88900"/>
          </a:xfrm>
          <a:prstGeom prst="rect">
            <a:avLst/>
          </a:prstGeom>
          <a:solidFill>
            <a:srgbClr val="9F57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32000" y="0"/>
            <a:ext cx="206375" cy="88900"/>
          </a:xfrm>
          <a:prstGeom prst="rect">
            <a:avLst/>
          </a:prstGeom>
          <a:solidFill>
            <a:srgbClr val="9E5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35200" y="0"/>
            <a:ext cx="206375" cy="88900"/>
          </a:xfrm>
          <a:prstGeom prst="rect">
            <a:avLst/>
          </a:prstGeom>
          <a:solidFill>
            <a:srgbClr val="9C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400" y="0"/>
            <a:ext cx="206375" cy="88900"/>
          </a:xfrm>
          <a:prstGeom prst="rect">
            <a:avLst/>
          </a:prstGeom>
          <a:solidFill>
            <a:srgbClr val="9A5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41600" y="0"/>
            <a:ext cx="206375" cy="88900"/>
          </a:xfrm>
          <a:prstGeom prst="rect">
            <a:avLst/>
          </a:prstGeom>
          <a:solidFill>
            <a:srgbClr val="98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44800" y="0"/>
            <a:ext cx="206375" cy="88900"/>
          </a:xfrm>
          <a:prstGeom prst="rect">
            <a:avLst/>
          </a:prstGeom>
          <a:solidFill>
            <a:srgbClr val="965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8000" y="0"/>
            <a:ext cx="206375" cy="88900"/>
          </a:xfrm>
          <a:prstGeom prst="rect">
            <a:avLst/>
          </a:prstGeom>
          <a:solidFill>
            <a:srgbClr val="955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51200" y="0"/>
            <a:ext cx="206375" cy="88900"/>
          </a:xfrm>
          <a:prstGeom prst="rect">
            <a:avLst/>
          </a:prstGeom>
          <a:solidFill>
            <a:srgbClr val="935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4400" y="0"/>
            <a:ext cx="206375" cy="88900"/>
          </a:xfrm>
          <a:prstGeom prst="rect">
            <a:avLst/>
          </a:prstGeom>
          <a:solidFill>
            <a:srgbClr val="91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0"/>
            <a:ext cx="206375" cy="88900"/>
          </a:xfrm>
          <a:prstGeom prst="rect">
            <a:avLst/>
          </a:prstGeom>
          <a:solidFill>
            <a:srgbClr val="8F5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60800" y="0"/>
            <a:ext cx="206375" cy="88900"/>
          </a:xfrm>
          <a:prstGeom prst="rect">
            <a:avLst/>
          </a:prstGeom>
          <a:solidFill>
            <a:srgbClr val="8D5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0"/>
            <a:ext cx="206375" cy="88900"/>
          </a:xfrm>
          <a:prstGeom prst="rect">
            <a:avLst/>
          </a:prstGeom>
          <a:solidFill>
            <a:srgbClr val="8C5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7200" y="0"/>
            <a:ext cx="206375" cy="88900"/>
          </a:xfrm>
          <a:prstGeom prst="rect">
            <a:avLst/>
          </a:prstGeom>
          <a:solidFill>
            <a:srgbClr val="8A51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0400" y="0"/>
            <a:ext cx="206375" cy="88900"/>
          </a:xfrm>
          <a:prstGeom prst="rect">
            <a:avLst/>
          </a:prstGeom>
          <a:solidFill>
            <a:srgbClr val="885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3600" y="0"/>
            <a:ext cx="206375" cy="88900"/>
          </a:xfrm>
          <a:prstGeom prst="rect">
            <a:avLst/>
          </a:prstGeom>
          <a:solidFill>
            <a:srgbClr val="865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76800" y="0"/>
            <a:ext cx="206375" cy="88900"/>
          </a:xfrm>
          <a:prstGeom prst="rect">
            <a:avLst/>
          </a:prstGeom>
          <a:solidFill>
            <a:srgbClr val="845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80000" y="0"/>
            <a:ext cx="206375" cy="88900"/>
          </a:xfrm>
          <a:prstGeom prst="rect">
            <a:avLst/>
          </a:prstGeom>
          <a:solidFill>
            <a:srgbClr val="834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83200" y="0"/>
            <a:ext cx="206375" cy="88900"/>
          </a:xfrm>
          <a:prstGeom prst="rect">
            <a:avLst/>
          </a:prstGeom>
          <a:solidFill>
            <a:srgbClr val="814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0"/>
            <a:ext cx="206375" cy="88900"/>
          </a:xfrm>
          <a:prstGeom prst="rect">
            <a:avLst/>
          </a:prstGeom>
          <a:solidFill>
            <a:srgbClr val="7F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89600" y="0"/>
            <a:ext cx="206375" cy="88900"/>
          </a:xfrm>
          <a:prstGeom prst="rect">
            <a:avLst/>
          </a:prstGeom>
          <a:solidFill>
            <a:srgbClr val="7D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2800" y="0"/>
            <a:ext cx="206375" cy="88900"/>
          </a:xfrm>
          <a:prstGeom prst="rect">
            <a:avLst/>
          </a:prstGeom>
          <a:solidFill>
            <a:srgbClr val="7B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0" y="0"/>
            <a:ext cx="206375" cy="88900"/>
          </a:xfrm>
          <a:prstGeom prst="rect">
            <a:avLst/>
          </a:prstGeom>
          <a:solidFill>
            <a:srgbClr val="794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99200" y="0"/>
            <a:ext cx="206375" cy="88900"/>
          </a:xfrm>
          <a:prstGeom prst="rect">
            <a:avLst/>
          </a:prstGeom>
          <a:solidFill>
            <a:srgbClr val="77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02400" y="0"/>
            <a:ext cx="206375" cy="88900"/>
          </a:xfrm>
          <a:prstGeom prst="rect">
            <a:avLst/>
          </a:prstGeom>
          <a:solidFill>
            <a:srgbClr val="744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5600" y="0"/>
            <a:ext cx="206375" cy="88900"/>
          </a:xfrm>
          <a:prstGeom prst="rect">
            <a:avLst/>
          </a:prstGeom>
          <a:solidFill>
            <a:srgbClr val="71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08800" y="0"/>
            <a:ext cx="206375" cy="88900"/>
          </a:xfrm>
          <a:prstGeom prst="rect">
            <a:avLst/>
          </a:prstGeom>
          <a:solidFill>
            <a:srgbClr val="6F4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12000" y="0"/>
            <a:ext cx="206375" cy="88900"/>
          </a:xfrm>
          <a:prstGeom prst="rect">
            <a:avLst/>
          </a:prstGeom>
          <a:solidFill>
            <a:srgbClr val="6C4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0"/>
            <a:ext cx="206375" cy="88900"/>
          </a:xfrm>
          <a:prstGeom prst="rect">
            <a:avLst/>
          </a:prstGeom>
          <a:solidFill>
            <a:srgbClr val="6A4F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18399" y="0"/>
            <a:ext cx="206375" cy="88900"/>
          </a:xfrm>
          <a:prstGeom prst="rect">
            <a:avLst/>
          </a:prstGeom>
          <a:solidFill>
            <a:srgbClr val="674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21600" y="0"/>
            <a:ext cx="206375" cy="88900"/>
          </a:xfrm>
          <a:prstGeom prst="rect">
            <a:avLst/>
          </a:prstGeom>
          <a:solidFill>
            <a:srgbClr val="644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24799" y="0"/>
            <a:ext cx="206375" cy="88900"/>
          </a:xfrm>
          <a:prstGeom prst="rect">
            <a:avLst/>
          </a:prstGeom>
          <a:solidFill>
            <a:srgbClr val="62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8000" y="0"/>
            <a:ext cx="206375" cy="88900"/>
          </a:xfrm>
          <a:prstGeom prst="rect">
            <a:avLst/>
          </a:prstGeom>
          <a:solidFill>
            <a:srgbClr val="5F4F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1200" y="0"/>
            <a:ext cx="206375" cy="88900"/>
          </a:xfrm>
          <a:prstGeom prst="rect">
            <a:avLst/>
          </a:prstGeom>
          <a:solidFill>
            <a:srgbClr val="5C4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34400" y="0"/>
            <a:ext cx="206375" cy="88900"/>
          </a:xfrm>
          <a:prstGeom prst="rect">
            <a:avLst/>
          </a:prstGeom>
          <a:solidFill>
            <a:srgbClr val="5A5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7600" y="0"/>
            <a:ext cx="206375" cy="88900"/>
          </a:xfrm>
          <a:prstGeom prst="rect">
            <a:avLst/>
          </a:prstGeom>
          <a:solidFill>
            <a:srgbClr val="575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40800" y="0"/>
            <a:ext cx="206375" cy="88900"/>
          </a:xfrm>
          <a:prstGeom prst="rect">
            <a:avLst/>
          </a:prstGeom>
          <a:solidFill>
            <a:srgbClr val="555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0"/>
            <a:ext cx="206375" cy="88900"/>
          </a:xfrm>
          <a:prstGeom prst="rect">
            <a:avLst/>
          </a:prstGeom>
          <a:solidFill>
            <a:srgbClr val="525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47200" y="0"/>
            <a:ext cx="206375" cy="88900"/>
          </a:xfrm>
          <a:prstGeom prst="rect">
            <a:avLst/>
          </a:prstGeom>
          <a:solidFill>
            <a:srgbClr val="4F5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50400" y="0"/>
            <a:ext cx="206375" cy="88900"/>
          </a:xfrm>
          <a:prstGeom prst="rect">
            <a:avLst/>
          </a:prstGeom>
          <a:solidFill>
            <a:srgbClr val="4D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753600" y="0"/>
            <a:ext cx="206375" cy="88900"/>
          </a:xfrm>
          <a:prstGeom prst="rect">
            <a:avLst/>
          </a:prstGeom>
          <a:solidFill>
            <a:srgbClr val="4A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56800" y="0"/>
            <a:ext cx="206375" cy="88900"/>
          </a:xfrm>
          <a:prstGeom prst="rect">
            <a:avLst/>
          </a:prstGeom>
          <a:solidFill>
            <a:srgbClr val="48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160000" y="0"/>
            <a:ext cx="206375" cy="88900"/>
          </a:xfrm>
          <a:prstGeom prst="rect">
            <a:avLst/>
          </a:prstGeom>
          <a:solidFill>
            <a:srgbClr val="455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3200" y="0"/>
            <a:ext cx="206375" cy="88900"/>
          </a:xfrm>
          <a:prstGeom prst="rect">
            <a:avLst/>
          </a:prstGeom>
          <a:solidFill>
            <a:srgbClr val="425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6400" y="0"/>
            <a:ext cx="206375" cy="88900"/>
          </a:xfrm>
          <a:prstGeom prst="rect">
            <a:avLst/>
          </a:prstGeom>
          <a:solidFill>
            <a:srgbClr val="405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769600" y="0"/>
            <a:ext cx="206375" cy="88900"/>
          </a:xfrm>
          <a:prstGeom prst="rect">
            <a:avLst/>
          </a:prstGeom>
          <a:solidFill>
            <a:srgbClr val="3D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00" y="0"/>
            <a:ext cx="206375" cy="88900"/>
          </a:xfrm>
          <a:prstGeom prst="rect">
            <a:avLst/>
          </a:prstGeom>
          <a:solidFill>
            <a:srgbClr val="3B5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76000" y="0"/>
            <a:ext cx="206375" cy="88900"/>
          </a:xfrm>
          <a:prstGeom prst="rect">
            <a:avLst/>
          </a:prstGeom>
          <a:solidFill>
            <a:srgbClr val="385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79200" y="0"/>
            <a:ext cx="206375" cy="88900"/>
          </a:xfrm>
          <a:prstGeom prst="rect">
            <a:avLst/>
          </a:prstGeom>
          <a:solidFill>
            <a:srgbClr val="3552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82400" y="0"/>
            <a:ext cx="206375" cy="88900"/>
          </a:xfrm>
          <a:prstGeom prst="rect">
            <a:avLst/>
          </a:prstGeom>
          <a:solidFill>
            <a:srgbClr val="33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785600" y="0"/>
            <a:ext cx="206375" cy="88900"/>
          </a:xfrm>
          <a:prstGeom prst="rect">
            <a:avLst/>
          </a:prstGeom>
          <a:solidFill>
            <a:srgbClr val="305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988800" y="0"/>
            <a:ext cx="206375" cy="889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1582400" y="-57150"/>
            <a:ext cx="203200" cy="203200"/>
          </a:xfrm>
          <a:prstGeom prst="ellipse">
            <a:avLst/>
          </a:prstGeom>
          <a:solidFill>
            <a:srgbClr val="2E5341"/>
          </a:solidFill>
          <a:ln w="38100">
            <a:solidFill>
              <a:srgbClr val="F4F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CourtCheckLogo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02400"/>
            <a:ext cx="428538" cy="2286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795000" y="6527800"/>
            <a:ext cx="7874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 spc="200">
                <a:solidFill>
                  <a:srgbClr val="837F77"/>
                </a:solidFill>
                <a:latin typeface="JetBrains Mono"/>
              </a:rPr>
              <a:t>T9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4F0E6"/>
                </a:solidFill>
                <a:latin typeface="JetBrains Mono"/>
              </a:rPr>
              <a:t>T9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2E5341"/>
                </a:solidFill>
                <a:latin typeface="JetBrains Mono"/>
              </a:rPr>
              <a:t>3-TIER PROGRESSION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558800"/>
            <a:ext cx="109728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 u="sng">
                <a:solidFill>
                  <a:srgbClr val="1A1815"/>
                </a:solidFill>
                <a:latin typeface="Inter Tight"/>
              </a:rPr>
              <a:t>[Leading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[Before, now, </a:t>
            </a:r>
            <a:r>
              <a:rPr sz="2600" b="0" i="1">
                <a:solidFill>
                  <a:srgbClr val="B05B36"/>
                </a:solidFill>
                <a:latin typeface="Newsreader"/>
              </a:rPr>
              <a:t>future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 Or i / ii / iii arc, building toward </a:t>
            </a:r>
            <a:r>
              <a:rPr sz="2400" b="1" i="0" u="sng">
                <a:solidFill>
                  <a:srgbClr val="1A1815"/>
                </a:solidFill>
                <a:latin typeface="Inter Tight"/>
              </a:rPr>
              <a:t>[kicker phrase]</a:t>
            </a:r>
            <a:r>
              <a:rPr sz="2400" b="1" i="0">
                <a:solidFill>
                  <a:srgbClr val="1A1815"/>
                </a:solidFill>
                <a:latin typeface="Inter Tight"/>
              </a:rPr>
              <a:t>.]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9600" y="1092200"/>
            <a:ext cx="109728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9600" y="1524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9600" y="15240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9600" y="2032000"/>
            <a:ext cx="353906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2E5341"/>
                </a:solidFill>
                <a:latin typeface="JetBrains Mono"/>
              </a:rPr>
              <a:t>[WHEN ONE]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9600" y="2311400"/>
            <a:ext cx="3539066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1815"/>
                </a:solidFill>
                <a:latin typeface="Inter Tight"/>
              </a:rPr>
              <a:t>[Tier 1 headline.]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9600" y="3302000"/>
            <a:ext cx="3539066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600" y="44450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PROOF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9600" y="45847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48895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OWNER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9600" y="50292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31216" y="1905000"/>
            <a:ext cx="6350" cy="3302000"/>
          </a:xfrm>
          <a:prstGeom prst="rect">
            <a:avLst/>
          </a:prstGeom>
          <a:solidFill>
            <a:srgbClr val="DD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74066" y="1701800"/>
            <a:ext cx="1143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12166" y="1612900"/>
            <a:ext cx="152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82" name="Oval 81"/>
          <p:cNvSpPr/>
          <p:nvPr/>
        </p:nvSpPr>
        <p:spPr>
          <a:xfrm>
            <a:off x="4326466" y="1524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26466" y="15240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26466" y="2032000"/>
            <a:ext cx="353906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2E5341"/>
                </a:solidFill>
                <a:latin typeface="JetBrains Mono"/>
              </a:rPr>
              <a:t>[WHEN TWO]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26466" y="2311400"/>
            <a:ext cx="3539066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1815"/>
                </a:solidFill>
                <a:latin typeface="Inter Tight"/>
              </a:rPr>
              <a:t>[Tier 2 headline.]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26466" y="3302000"/>
            <a:ext cx="3539066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26466" y="44450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PROOF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26466" y="45847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26466" y="48895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OWNER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26466" y="50292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948083" y="1905000"/>
            <a:ext cx="6350" cy="3302000"/>
          </a:xfrm>
          <a:prstGeom prst="rect">
            <a:avLst/>
          </a:prstGeom>
          <a:solidFill>
            <a:srgbClr val="DDD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890933" y="1701800"/>
            <a:ext cx="114300" cy="6350"/>
          </a:xfrm>
          <a:prstGeom prst="rect">
            <a:avLst/>
          </a:prstGeom>
          <a:solidFill>
            <a:srgbClr val="837F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29033" y="1612900"/>
            <a:ext cx="1524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837F77"/>
                </a:solidFill>
                <a:latin typeface="Newsreader"/>
              </a:rPr>
              <a:t>›</a:t>
            </a:r>
          </a:p>
        </p:txBody>
      </p:sp>
      <p:sp>
        <p:nvSpPr>
          <p:cNvPr id="94" name="Oval 93"/>
          <p:cNvSpPr/>
          <p:nvPr/>
        </p:nvSpPr>
        <p:spPr>
          <a:xfrm>
            <a:off x="8043333" y="1524000"/>
            <a:ext cx="355600" cy="355600"/>
          </a:xfrm>
          <a:prstGeom prst="ellipse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3333" y="1524000"/>
            <a:ext cx="35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4F0E6"/>
                </a:solidFill>
                <a:latin typeface="JetBrains Mono"/>
              </a:rPr>
              <a:t>III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3333" y="2032000"/>
            <a:ext cx="353906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20">
                <a:solidFill>
                  <a:srgbClr val="2E5341"/>
                </a:solidFill>
                <a:latin typeface="JetBrains Mono"/>
              </a:rPr>
              <a:t>[WHEN THREE]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43333" y="2311400"/>
            <a:ext cx="3539066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1815"/>
                </a:solidFill>
                <a:latin typeface="Inter Tight"/>
              </a:rPr>
              <a:t>[Tier 3 headline.]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43333" y="3302000"/>
            <a:ext cx="3539066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3403A"/>
                </a:solidFill>
                <a:latin typeface="Inter Tight"/>
              </a:rPr>
              <a:t>[Two-line description of this tier. Keep it short and concrete.]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43333" y="44450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PROOF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43333" y="45847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[Evidence or KPI]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43333" y="4889500"/>
            <a:ext cx="3539066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spc="180">
                <a:solidFill>
                  <a:srgbClr val="837F77"/>
                </a:solidFill>
                <a:latin typeface="JetBrains Mono"/>
              </a:rPr>
              <a:t>OWNER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3333" y="5029200"/>
            <a:ext cx="3539066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3403A"/>
                </a:solidFill>
                <a:latin typeface="Inter Tight"/>
              </a:rPr>
              <a:t>[Team or role]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09600" y="5842000"/>
            <a:ext cx="31750" cy="482600"/>
          </a:xfrm>
          <a:prstGeom prst="rect">
            <a:avLst/>
          </a:prstGeom>
          <a:solidFill>
            <a:srgbClr val="2E5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41350" y="5842000"/>
            <a:ext cx="10941050" cy="482600"/>
          </a:xfrm>
          <a:prstGeom prst="roundRect">
            <a:avLst>
              <a:gd name="adj" fmla="val 7894"/>
            </a:avLst>
          </a:prstGeom>
          <a:solidFill>
            <a:srgbClr val="FBF8F1"/>
          </a:solidFill>
          <a:ln w="6350">
            <a:solidFill>
              <a:srgbClr val="DDD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2800" y="5842000"/>
            <a:ext cx="106172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A1815"/>
                </a:solidFill>
                <a:latin typeface="Inter Tight"/>
              </a:rPr>
              <a:t>[Synthesis: the arc the three tiers make, with one </a:t>
            </a:r>
            <a:r>
              <a:rPr sz="1600" b="0" i="1">
                <a:solidFill>
                  <a:srgbClr val="B05B36"/>
                </a:solidFill>
                <a:latin typeface="Newsreader"/>
              </a:rPr>
              <a:t>italic-clay</a:t>
            </a:r>
            <a:r>
              <a:rPr sz="1400" b="1" i="0">
                <a:solidFill>
                  <a:srgbClr val="1A1815"/>
                </a:solidFill>
                <a:latin typeface="Inter Tight"/>
              </a:rPr>
              <a:t> word.]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600"/>
            <a:ext cx="355600" cy="165100"/>
          </a:xfrm>
          <a:prstGeom prst="roundRect">
            <a:avLst>
              <a:gd name="adj" fmla="val 50000"/>
            </a:avLst>
          </a:prstGeom>
          <a:solidFill>
            <a:srgbClr val="6FA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8600"/>
            <a:ext cx="3556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0E14"/>
                </a:solidFill>
                <a:latin typeface="JetBrains Mono"/>
              </a:rPr>
              <a:t>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2286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20">
                <a:solidFill>
                  <a:srgbClr val="6FA88B"/>
                </a:solidFill>
                <a:latin typeface="JetBrains Mono"/>
              </a:rPr>
              <a:t>SECTION DIVIDER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40000"/>
            <a:ext cx="121920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0" b="0" i="0">
                <a:solidFill>
                  <a:srgbClr val="F4F0E6"/>
                </a:solidFill>
                <a:latin typeface="Newsreader"/>
              </a:rPr>
              <a:t>[Section </a:t>
            </a:r>
            <a:r>
              <a:rPr sz="9000" b="0" i="1">
                <a:solidFill>
                  <a:srgbClr val="E07A52"/>
                </a:solidFill>
                <a:latin typeface="Newsreader"/>
              </a:rPr>
              <a:t>title</a:t>
            </a:r>
            <a:r>
              <a:rPr sz="9000" b="0" i="0">
                <a:solidFill>
                  <a:srgbClr val="F4F0E6"/>
                </a:solidFill>
                <a:latin typeface="Newsreader"/>
              </a:rPr>
              <a:t>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64000"/>
            <a:ext cx="1219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240">
                <a:solidFill>
                  <a:srgbClr val="6B7388"/>
                </a:solidFill>
                <a:latin typeface="JetBrains Mono"/>
              </a:rPr>
              <a:t>[MONO UPPERCASE SUBTITLE · OPTIONAL]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